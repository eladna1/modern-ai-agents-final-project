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73" r:id="rId6"/>
    <p:sldId id="274" r:id="rId7"/>
    <p:sldId id="272" r:id="rId8"/>
    <p:sldId id="276" r:id="rId9"/>
    <p:sldId id="263" r:id="rId10"/>
    <p:sldId id="27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39B7"/>
    <a:srgbClr val="0E9A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10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534AB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430"/>
                    </a:solidFill>
                    <a:latin typeface="Arial"/>
                  </a:defRPr>
                </a:pPr>
                <a:endParaRPr lang="he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‎0–50</c:v>
                </c:pt>
                <c:pt idx="1">
                  <c:v>‎51–70</c:v>
                </c:pt>
                <c:pt idx="2">
                  <c:v>‎71–85</c:v>
                </c:pt>
                <c:pt idx="3">
                  <c:v>‎86–100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9</c:v>
                </c:pt>
                <c:pt idx="2">
                  <c:v>15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3E-4A95-8EBE-4D96815126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0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0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8498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name and one sentence: this is an agent that grades handwritten Calculus exams on its own. Keep it to 15 seconds — the why comes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pains: time, delay, fairness. Land the fairness one hardest — inconsistency is what students actually 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'why'. Say it slowly. The key turn: grading is reasoning, so it deserves an agent, not a workflow. That framing sets up the whole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line, one picture: scan in, grade out. Stress that it evaluates the student's own approach, so alternative valid methods still get credit.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proof it works. The Verifier catches the missing x term with symbolic math, and the agent still awards partial credit for correct method. Then say: this runs for every question and totals the exam. This is the moment to win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Reliability rests on three things: grounding (retrieval of the official solution + rubric), reflection, and knowing when to refuse. Grounding is the key anti-hallucination point — grades follow the material, not the model's memory. Budget and speed are handled in the caption.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clearly as beyond the course deliverable (Roadmap badge). Three directions: class trends for the lecturer; practice mode — the same grader on homework before the exam; and a flywheel — every teacher-resolved escalation becomes a new graded example, so the agent sharpens each round. If asked how hard: the per-question traces already exist, aggregation is the easy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Bookend to the why. End on the student benefit, then invite questions. Total target: under 10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39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19559" y="1165860"/>
            <a:ext cx="2848482" cy="2697480"/>
          </a:xfrm>
          <a:prstGeom prst="ellipse">
            <a:avLst/>
          </a:prstGeom>
          <a:solidFill>
            <a:srgbClr val="2C357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6537960" y="1690382"/>
            <a:ext cx="1834253" cy="1784338"/>
          </a:xfrm>
          <a:prstGeom prst="ellipse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10312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6002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CheckMate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658368" y="25146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agent that grades Calculus 1 exams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8368" y="32004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Elad Nachalieli  ·  Shiri Haboob  ·  Yaron Mozes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Grading Calculus by hand doesn't scale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exam round, the same bottleneck.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032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658368" cy="658368"/>
          </a:xfrm>
          <a:prstGeom prst="ellipse">
            <a:avLst/>
          </a:prstGeom>
          <a:solidFill>
            <a:srgbClr val="D85A3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03911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791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feedback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081528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wait days to find out where they went wrong — after they've moved 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91840" y="1600200"/>
            <a:ext cx="256032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Shape 7"/>
          <p:cNvSpPr/>
          <p:nvPr/>
        </p:nvSpPr>
        <p:spPr>
          <a:xfrm>
            <a:off x="3566160" y="1874520"/>
            <a:ext cx="658368" cy="658368"/>
          </a:xfrm>
          <a:prstGeom prst="ellipse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752" y="203911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6791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 credit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566160" y="3081528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credit drifts between graders and across a long stack. Same mistake, different score.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35040" y="1600200"/>
            <a:ext cx="256032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5" name="Shape 11"/>
          <p:cNvSpPr/>
          <p:nvPr/>
        </p:nvSpPr>
        <p:spPr>
          <a:xfrm>
            <a:off x="6309360" y="1874520"/>
            <a:ext cx="658368" cy="658368"/>
          </a:xfrm>
          <a:prstGeom prst="ellipse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203911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2200" y="26791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feedback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172200" y="308152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sometimes receive only a score, with no explanation of what went wrong or how to improve.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5156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828800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300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believe feedback should be </a:t>
            </a:r>
            <a:r>
              <a:rPr lang="en-US" sz="33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fast, consistent, and fair</a:t>
            </a:r>
            <a:r>
              <a:rPr lang="en-US" sz="3300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for every student, on every question.</a:t>
            </a:r>
            <a:endParaRPr lang="en-US" sz="3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CheckMate does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scanned exam. It returns a score, partial credit, and written feedback for every question.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468880" cy="1554480"/>
          </a:xfrm>
          <a:prstGeom prst="roundRect">
            <a:avLst>
              <a:gd name="adj" fmla="val 5294"/>
            </a:avLst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4231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971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scanned exam (all pages)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2770632"/>
            <a:ext cx="365760" cy="31089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657600" y="2148840"/>
            <a:ext cx="2468880" cy="1554480"/>
          </a:xfrm>
          <a:prstGeom prst="roundRect">
            <a:avLst>
              <a:gd name="adj" fmla="val 5294"/>
            </a:avLst>
          </a:prstGeom>
          <a:solidFill>
            <a:srgbClr val="534AB7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242316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749040" y="3017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CheckMate reasons + verifies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770632"/>
            <a:ext cx="365760" cy="310896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766560" y="2148840"/>
            <a:ext cx="1828800" cy="1554480"/>
          </a:xfrm>
          <a:prstGeom prst="roundRect">
            <a:avLst>
              <a:gd name="adj" fmla="val 5294"/>
            </a:avLst>
          </a:prstGeom>
          <a:solidFill>
            <a:srgbClr val="1D8F73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2423160"/>
            <a:ext cx="457200" cy="4572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812280" y="3017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feedback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548640" y="40690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every page, splits the exam into questions, and grades each on the student's actual method.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question from the exam, graded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F3F4FB"/>
          </a:solidFill>
          <a:ln w="12700">
            <a:solidFill>
              <a:srgbClr val="E4E6F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777240" y="1389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3(c)  ·  9 points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40873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 scan 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8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CheckMate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23760" y="1371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r>
              <a:rPr lang="en-US" sz="2200" dirty="0">
                <a:solidFill>
                  <a:srgbClr val="647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9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48640" y="45262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…repeated for every question, then totaled into the final exam grade.</a:t>
            </a:r>
            <a:endParaRPr lang="en-US" sz="1250" dirty="0"/>
          </a:p>
        </p:txBody>
      </p:sp>
      <p:sp>
        <p:nvSpPr>
          <p:cNvPr id="16" name="Rounded Rectangle 15"/>
          <p:cNvSpPr/>
          <p:nvPr/>
        </p:nvSpPr>
        <p:spPr>
          <a:xfrm>
            <a:off x="4892040" y="2057400"/>
            <a:ext cx="3520440" cy="822960"/>
          </a:xfrm>
          <a:prstGeom prst="roundRect">
            <a:avLst>
              <a:gd name="adj" fmla="val 8000"/>
            </a:avLst>
          </a:prstGeom>
          <a:solidFill>
            <a:srgbClr val="E9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28016" bIns="54864" rtlCol="0" anchor="ctr"/>
          <a:lstStyle/>
          <a:p>
            <a:pPr algn="ctr">
              <a:lnSpc>
                <a:spcPct val="105000"/>
              </a:lnSpc>
            </a:pPr>
            <a:r>
              <a:rPr sz="1900" b="1" dirty="0">
                <a:solidFill>
                  <a:srgbClr val="1D8F73"/>
                </a:solidFill>
                <a:latin typeface="Cambria"/>
              </a:rPr>
              <a:t>+5</a:t>
            </a:r>
            <a:r>
              <a:rPr lang="he-IL" sz="1900" b="1" dirty="0">
                <a:solidFill>
                  <a:srgbClr val="1D8F73"/>
                </a:solidFill>
                <a:latin typeface="Cambria"/>
              </a:rPr>
              <a:t> </a:t>
            </a:r>
            <a:r>
              <a:rPr sz="1250" dirty="0">
                <a:solidFill>
                  <a:srgbClr val="1F2430"/>
                </a:solidFill>
                <a:latin typeface="Calibri"/>
              </a:rPr>
              <a:t>Method is correct — bound flip, L'Hôpital via FTC, sin θ/θ → 1.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2971800"/>
            <a:ext cx="3520440" cy="868680"/>
          </a:xfrm>
          <a:prstGeom prst="roundRect">
            <a:avLst>
              <a:gd name="adj" fmla="val 8000"/>
            </a:avLst>
          </a:prstGeom>
          <a:solidFill>
            <a:srgbClr val="FB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28016" bIns="54864" rtlCol="0" anchor="ctr"/>
          <a:lstStyle/>
          <a:p>
            <a:pPr algn="ctr">
              <a:lnSpc>
                <a:spcPct val="105000"/>
              </a:lnSpc>
            </a:pPr>
            <a:r>
              <a:rPr lang="he-IL" sz="1900" b="1" dirty="0">
                <a:solidFill>
                  <a:srgbClr val="D85A30"/>
                </a:solidFill>
                <a:latin typeface="Cambria"/>
              </a:rPr>
              <a:t>-</a:t>
            </a:r>
            <a:r>
              <a:rPr sz="1900" b="1" dirty="0">
                <a:solidFill>
                  <a:srgbClr val="D85A30"/>
                </a:solidFill>
                <a:latin typeface="Cambria"/>
              </a:rPr>
              <a:t> </a:t>
            </a:r>
            <a:r>
              <a:rPr lang="he-IL" sz="1900" b="1" dirty="0">
                <a:solidFill>
                  <a:srgbClr val="D85A30"/>
                </a:solidFill>
                <a:latin typeface="Cambria"/>
              </a:rPr>
              <a:t>4</a:t>
            </a:r>
            <a:r>
              <a:rPr sz="1900" b="1" dirty="0">
                <a:solidFill>
                  <a:srgbClr val="D85A30"/>
                </a:solidFill>
                <a:latin typeface="Cambria"/>
              </a:rPr>
              <a:t>   </a:t>
            </a:r>
            <a:r>
              <a:rPr sz="1250" dirty="0">
                <a:solidFill>
                  <a:srgbClr val="1F2430"/>
                </a:solidFill>
                <a:latin typeface="Calibri"/>
              </a:rPr>
              <a:t>Sign lost at √(x⁶) = |x|³ = −x³.  Answer −2/3; correct is +2/3.</a:t>
            </a:r>
          </a:p>
        </p:txBody>
      </p:sp>
      <p:pic>
        <p:nvPicPr>
          <p:cNvPr id="12" name="תמונה 11" descr="dx.  תוכן בינה מלאכותית גנרטיבית עשוי להיות שגוי.">
            <a:extLst>
              <a:ext uri="{FF2B5EF4-FFF2-40B4-BE49-F238E27FC236}">
                <a16:creationId xmlns:a16="http://schemas.microsoft.com/office/drawing/2014/main" id="{9D53595D-5DB2-D12C-81E1-B2E4E954F5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551" b="6530"/>
          <a:stretch>
            <a:fillRect/>
          </a:stretch>
        </p:blipFill>
        <p:spPr>
          <a:xfrm>
            <a:off x="1218026" y="1719072"/>
            <a:ext cx="2332645" cy="23682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/>
          </a:p>
        </p:txBody>
      </p:sp>
      <p:sp>
        <p:nvSpPr>
          <p:cNvPr id="12" name="Title"/>
          <p:cNvSpPr/>
          <p:nvPr/>
        </p:nvSpPr>
        <p:spPr>
          <a:xfrm>
            <a:off x="384048" y="192024"/>
            <a:ext cx="7589520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3000" b="1" dirty="0">
                <a:solidFill>
                  <a:srgbClr val="101528"/>
                </a:solidFill>
                <a:latin typeface="Georgia"/>
              </a:rPr>
              <a:t>The data behind CheckMate</a:t>
            </a:r>
          </a:p>
        </p:txBody>
      </p:sp>
      <p:sp>
        <p:nvSpPr>
          <p:cNvPr id="13" name="Subtitle"/>
          <p:cNvSpPr/>
          <p:nvPr/>
        </p:nvSpPr>
        <p:spPr>
          <a:xfrm>
            <a:off x="384048" y="749808"/>
            <a:ext cx="8229600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350" i="1" dirty="0">
                <a:solidFill>
                  <a:srgbClr val="6F7A92"/>
                </a:solidFill>
                <a:latin typeface="Helvetica Neue"/>
              </a:rPr>
              <a:t>Two data sources, two jobs — what we collected, and why.</a:t>
            </a:r>
          </a:p>
        </p:txBody>
      </p:sp>
      <p:sp>
        <p:nvSpPr>
          <p:cNvPr id="14" name="Card 1"/>
          <p:cNvSpPr/>
          <p:nvPr/>
        </p:nvSpPr>
        <p:spPr>
          <a:xfrm>
            <a:off x="502920" y="1188720"/>
            <a:ext cx="3931920" cy="3072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6F2"/>
            </a:solidFill>
          </a:ln>
          <a:effectLst>
            <a:outerShdw blurRad="63500" dist="25400" dir="5400000" algn="ctr" rotWithShape="0">
              <a:srgbClr val="000000">
                <a:alpha val="22000"/>
              </a:srgbClr>
            </a:outerShdw>
          </a:effectLst>
        </p:spPr>
        <p:txBody>
          <a:bodyPr wrap="square" lIns="0" tIns="0" rIns="0" bIns="0" anchor="t"/>
          <a:lstStyle/>
          <a:p>
            <a:pPr algn="l"/>
            <a:endParaRPr lang="en-US"/>
          </a:p>
        </p:txBody>
      </p:sp>
      <p:sp>
        <p:nvSpPr>
          <p:cNvPr id="15" name="Dot 1"/>
          <p:cNvSpPr/>
          <p:nvPr/>
        </p:nvSpPr>
        <p:spPr>
          <a:xfrm>
            <a:off x="777240" y="1389888"/>
            <a:ext cx="402336" cy="402336"/>
          </a:xfrm>
          <a:prstGeom prst="ellipse">
            <a:avLst/>
          </a:prstGeom>
          <a:solidFill>
            <a:srgbClr val="1D8F73"/>
          </a:solidFill>
          <a:ln>
            <a:noFill/>
          </a:ln>
        </p:spPr>
        <p:txBody>
          <a:bodyPr wrap="square" lIns="12700" tIns="12700" rIns="12700" bIns="127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16" name="Head 1"/>
          <p:cNvSpPr/>
          <p:nvPr/>
        </p:nvSpPr>
        <p:spPr>
          <a:xfrm>
            <a:off x="1325880" y="1389888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1F2430"/>
                </a:solidFill>
                <a:latin typeface="Georgia"/>
              </a:rPr>
              <a:t>Past exams &amp; solutions</a:t>
            </a:r>
          </a:p>
        </p:txBody>
      </p:sp>
      <p:sp>
        <p:nvSpPr>
          <p:cNvPr id="17" name="Desc 1"/>
          <p:cNvSpPr/>
          <p:nvPr/>
        </p:nvSpPr>
        <p:spPr>
          <a:xfrm>
            <a:off x="777240" y="1938528"/>
            <a:ext cx="33832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050" b="1" dirty="0">
                <a:solidFill>
                  <a:srgbClr val="1D8F73"/>
                </a:solidFill>
                <a:latin typeface="Helvetica Neue"/>
              </a:rPr>
              <a:t>Test &amp; evaluate — </a:t>
            </a:r>
            <a:r>
              <a:rPr lang="en-US" sz="1050" dirty="0">
                <a:solidFill>
                  <a:srgbClr val="64708A"/>
                </a:solidFill>
                <a:latin typeface="Helvetica Neue"/>
              </a:rPr>
              <a:t>real scans with the TA’s per-question grades and notes: the bar CheckMate must match before production.</a:t>
            </a:r>
          </a:p>
        </p:txBody>
      </p:sp>
      <p:pic>
        <p:nvPicPr>
          <p:cNvPr id="18" name="Img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874" y="2651760"/>
            <a:ext cx="2144012" cy="1444752"/>
          </a:xfrm>
          <a:prstGeom prst="rect">
            <a:avLst/>
          </a:prstGeom>
          <a:ln w="9525">
            <a:solidFill>
              <a:srgbClr val="E4E6F2"/>
            </a:solidFill>
          </a:ln>
        </p:spPr>
      </p:pic>
      <p:sp>
        <p:nvSpPr>
          <p:cNvPr id="19" name="Card 2"/>
          <p:cNvSpPr/>
          <p:nvPr/>
        </p:nvSpPr>
        <p:spPr>
          <a:xfrm>
            <a:off x="4709160" y="1188720"/>
            <a:ext cx="3931920" cy="3072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6F2"/>
            </a:solidFill>
          </a:ln>
          <a:effectLst>
            <a:outerShdw blurRad="63500" dist="25400" dir="5400000" algn="ctr" rotWithShape="0">
              <a:srgbClr val="000000">
                <a:alpha val="22000"/>
              </a:srgbClr>
            </a:outerShdw>
          </a:effectLst>
        </p:spPr>
        <p:txBody>
          <a:bodyPr wrap="square" lIns="0" tIns="0" rIns="0" bIns="0" anchor="t"/>
          <a:lstStyle/>
          <a:p>
            <a:pPr algn="l"/>
            <a:endParaRPr lang="en-US"/>
          </a:p>
        </p:txBody>
      </p:sp>
      <p:sp>
        <p:nvSpPr>
          <p:cNvPr id="20" name="Dot 2"/>
          <p:cNvSpPr/>
          <p:nvPr/>
        </p:nvSpPr>
        <p:spPr>
          <a:xfrm>
            <a:off x="4983480" y="1389888"/>
            <a:ext cx="402336" cy="402336"/>
          </a:xfrm>
          <a:prstGeom prst="ellipse">
            <a:avLst/>
          </a:prstGeom>
          <a:solidFill>
            <a:srgbClr val="D85A30"/>
          </a:solidFill>
          <a:ln>
            <a:noFill/>
          </a:ln>
        </p:spPr>
        <p:txBody>
          <a:bodyPr wrap="square" lIns="12700" tIns="12700" rIns="12700" bIns="127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21" name="Head 2"/>
          <p:cNvSpPr/>
          <p:nvPr/>
        </p:nvSpPr>
        <p:spPr>
          <a:xfrm>
            <a:off x="5532120" y="1389888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1F2430"/>
                </a:solidFill>
                <a:latin typeface="Georgia"/>
              </a:rPr>
              <a:t>Course material (Calculus 1)</a:t>
            </a:r>
          </a:p>
        </p:txBody>
      </p:sp>
      <p:sp>
        <p:nvSpPr>
          <p:cNvPr id="22" name="Desc 2"/>
          <p:cNvSpPr/>
          <p:nvPr/>
        </p:nvSpPr>
        <p:spPr>
          <a:xfrm>
            <a:off x="4983480" y="1938528"/>
            <a:ext cx="33832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050" b="1" dirty="0">
                <a:solidFill>
                  <a:srgbClr val="D85A30"/>
                </a:solidFill>
                <a:latin typeface="Helvetica Neue"/>
              </a:rPr>
              <a:t>Ground &amp; verify (RAG) — </a:t>
            </a:r>
            <a:r>
              <a:rPr lang="en-US" sz="1050" dirty="0">
                <a:solidFill>
                  <a:srgbClr val="64708A"/>
                </a:solidFill>
                <a:latin typeface="Helvetica Neue"/>
              </a:rPr>
              <a:t>the course lecture notes, the single source of truth every grade is grounded in instead of invented.</a:t>
            </a:r>
          </a:p>
        </p:txBody>
      </p:sp>
      <p:pic>
        <p:nvPicPr>
          <p:cNvPr id="23" name="Img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319" y="2651760"/>
            <a:ext cx="1265603" cy="1444752"/>
          </a:xfrm>
          <a:prstGeom prst="rect">
            <a:avLst/>
          </a:prstGeom>
          <a:ln w="9525">
            <a:solidFill>
              <a:srgbClr val="E4E6F2"/>
            </a:solidFill>
          </a:ln>
        </p:spPr>
      </p:pic>
      <p:sp>
        <p:nvSpPr>
          <p:cNvPr id="24" name="Caption"/>
          <p:cNvSpPr/>
          <p:nvPr/>
        </p:nvSpPr>
        <p:spPr>
          <a:xfrm>
            <a:off x="502920" y="4498848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50" i="1" dirty="0">
                <a:solidFill>
                  <a:srgbClr val="64708A"/>
                </a:solidFill>
                <a:latin typeface="Helvetica Neue"/>
              </a:rPr>
              <a:t>One set to test against, one to stay grounded 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light 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itle - CheckMate as a Reflection Agent"/>
          <p:cNvSpPr/>
          <p:nvPr/>
        </p:nvSpPr>
        <p:spPr>
          <a:xfrm>
            <a:off x="355600" y="190500"/>
            <a:ext cx="7620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3000" b="1" dirty="0">
                <a:solidFill>
                  <a:srgbClr val="101528"/>
                </a:solidFill>
                <a:latin typeface="Georgia"/>
              </a:rPr>
              <a:t>CheckMate as a Reflection Agent</a:t>
            </a:r>
          </a:p>
        </p:txBody>
      </p:sp>
      <p:sp>
        <p:nvSpPr>
          <p:cNvPr id="4" name="Subtitle - reflection agent description"/>
          <p:cNvSpPr/>
          <p:nvPr/>
        </p:nvSpPr>
        <p:spPr>
          <a:xfrm>
            <a:off x="381000" y="749300"/>
            <a:ext cx="825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350" i="1" dirty="0">
                <a:solidFill>
                  <a:srgbClr val="6F7A92"/>
                </a:solidFill>
                <a:latin typeface="Helvetica Neue"/>
              </a:rPr>
              <a:t>The agent grades first, then critiques its own grade against retrieved course evidence.</a:t>
            </a:r>
          </a:p>
        </p:txBody>
      </p:sp>
      <p:sp>
        <p:nvSpPr>
          <p:cNvPr id="11" name="Pipeline arrow 1"/>
          <p:cNvSpPr/>
          <p:nvPr/>
        </p:nvSpPr>
        <p:spPr>
          <a:xfrm>
            <a:off x="1956816" y="1901952"/>
            <a:ext cx="182880" cy="0"/>
          </a:xfrm>
          <a:prstGeom prst="line">
            <a:avLst/>
          </a:prstGeom>
          <a:noFill/>
          <a:ln w="19050" cap="rnd">
            <a:solidFill>
              <a:srgbClr val="7A8498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" name="Pipeline arrow 2"/>
          <p:cNvSpPr/>
          <p:nvPr/>
        </p:nvSpPr>
        <p:spPr>
          <a:xfrm>
            <a:off x="3657600" y="1901952"/>
            <a:ext cx="182880" cy="0"/>
          </a:xfrm>
          <a:prstGeom prst="line">
            <a:avLst/>
          </a:prstGeom>
          <a:noFill/>
          <a:ln w="19050" cap="rnd">
            <a:solidFill>
              <a:srgbClr val="7A8498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" name="Pipeline arrow 3"/>
          <p:cNvSpPr/>
          <p:nvPr/>
        </p:nvSpPr>
        <p:spPr>
          <a:xfrm>
            <a:off x="5303520" y="1901952"/>
            <a:ext cx="182880" cy="0"/>
          </a:xfrm>
          <a:prstGeom prst="line">
            <a:avLst/>
          </a:prstGeom>
          <a:noFill/>
          <a:ln w="19050" cap="rnd">
            <a:solidFill>
              <a:srgbClr val="7A8498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" name="Pipeline arrow 4"/>
          <p:cNvSpPr/>
          <p:nvPr/>
        </p:nvSpPr>
        <p:spPr>
          <a:xfrm>
            <a:off x="6949440" y="1901952"/>
            <a:ext cx="182880" cy="0"/>
          </a:xfrm>
          <a:prstGeom prst="line">
            <a:avLst/>
          </a:prstGeom>
          <a:noFill/>
          <a:ln w="19050" cap="rnd">
            <a:solidFill>
              <a:srgbClr val="7A8498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flector to critique"/>
          <p:cNvSpPr/>
          <p:nvPr/>
        </p:nvSpPr>
        <p:spPr>
          <a:xfrm>
            <a:off x="5998464" y="2322576"/>
            <a:ext cx="219456" cy="859536"/>
          </a:xfrm>
          <a:custGeom>
            <a:avLst/>
            <a:gdLst/>
            <a:ahLst/>
            <a:cxnLst/>
            <a:rect l="0" t="0" r="0" b="0"/>
            <a:pathLst>
              <a:path w="219456" h="859536">
                <a:moveTo>
                  <a:pt x="219456" y="0"/>
                </a:moveTo>
                <a:lnTo>
                  <a:pt x="219456" y="859536"/>
                </a:lnTo>
                <a:lnTo>
                  <a:pt x="0" y="859536"/>
                </a:lnTo>
              </a:path>
            </a:pathLst>
          </a:custGeom>
          <a:noFill/>
          <a:ln w="19050" cap="rnd">
            <a:solidFill>
              <a:srgbClr val="7A8498"/>
            </a:solidFill>
            <a:round/>
            <a:headEnd type="none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" name="Critique back to grader"/>
          <p:cNvSpPr/>
          <p:nvPr/>
        </p:nvSpPr>
        <p:spPr>
          <a:xfrm>
            <a:off x="2898648" y="2322576"/>
            <a:ext cx="246888" cy="859536"/>
          </a:xfrm>
          <a:custGeom>
            <a:avLst/>
            <a:gdLst/>
            <a:ahLst/>
            <a:cxnLst/>
            <a:rect l="0" t="0" r="0" b="0"/>
            <a:pathLst>
              <a:path w="246888" h="859536">
                <a:moveTo>
                  <a:pt x="246888" y="859536"/>
                </a:moveTo>
                <a:lnTo>
                  <a:pt x="0" y="859536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7A8498"/>
            </a:solidFill>
            <a:round/>
            <a:headEnd type="none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7" name="Knowledge base to grader"/>
          <p:cNvSpPr/>
          <p:nvPr/>
        </p:nvSpPr>
        <p:spPr>
          <a:xfrm>
            <a:off x="2468880" y="2322576"/>
            <a:ext cx="0" cy="1463040"/>
          </a:xfrm>
          <a:prstGeom prst="line">
            <a:avLst/>
          </a:prstGeom>
          <a:noFill/>
          <a:ln w="19050" cap="rnd">
            <a:solidFill>
              <a:srgbClr val="7A8498"/>
            </a:solidFill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8" name="Knowledge base to reflector"/>
          <p:cNvSpPr/>
          <p:nvPr/>
        </p:nvSpPr>
        <p:spPr>
          <a:xfrm>
            <a:off x="6583680" y="2322576"/>
            <a:ext cx="0" cy="1463040"/>
          </a:xfrm>
          <a:prstGeom prst="line">
            <a:avLst/>
          </a:prstGeom>
          <a:noFill/>
          <a:ln w="19050" cap="rnd">
            <a:solidFill>
              <a:srgbClr val="7A8498"/>
            </a:solidFill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tudent answer node"/>
          <p:cNvSpPr/>
          <p:nvPr/>
        </p:nvSpPr>
        <p:spPr>
          <a:xfrm>
            <a:off x="502920" y="1517904"/>
            <a:ext cx="1389888" cy="768096"/>
          </a:xfrm>
          <a:prstGeom prst="roundRect">
            <a:avLst/>
          </a:prstGeom>
          <a:solidFill>
            <a:srgbClr val="4C39B7"/>
          </a:solidFill>
          <a:ln>
            <a:noFill/>
          </a:ln>
          <a:effectLst>
            <a:outerShdw blurRad="63500" dist="25400" dir="5400000" algn="ctr" rotWithShape="0">
              <a:srgbClr val="000000">
                <a:alpha val="22000"/>
              </a:srgbClr>
            </a:outerShdw>
          </a:effectLst>
        </p:spPr>
        <p:txBody>
          <a:bodyPr wrap="square" lIns="50800" tIns="50800" rIns="50800" bIns="508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"/>
                <a:ea typeface="+mn-ea"/>
                <a:cs typeface="+mn-cs"/>
              </a:rPr>
              <a:t>Parser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50" dirty="0">
                <a:solidFill>
                  <a:srgbClr val="FFFFFF"/>
                </a:solidFill>
                <a:latin typeface="Helvetica Neue"/>
              </a:rPr>
              <a:t>student answer</a:t>
            </a:r>
          </a:p>
        </p:txBody>
      </p:sp>
      <p:sp>
        <p:nvSpPr>
          <p:cNvPr id="20" name="Grader node"/>
          <p:cNvSpPr/>
          <p:nvPr/>
        </p:nvSpPr>
        <p:spPr>
          <a:xfrm>
            <a:off x="2203704" y="1517904"/>
            <a:ext cx="1389888" cy="768096"/>
          </a:xfrm>
          <a:prstGeom prst="roundRect">
            <a:avLst/>
          </a:prstGeom>
          <a:solidFill>
            <a:srgbClr val="4C39B7"/>
          </a:solidFill>
          <a:ln>
            <a:noFill/>
          </a:ln>
          <a:effectLst>
            <a:outerShdw blurRad="63500" dist="25400" dir="5400000" algn="ctr" rotWithShape="0">
              <a:srgbClr val="000000">
                <a:alpha val="22000"/>
              </a:srgbClr>
            </a:outerShdw>
          </a:effectLst>
        </p:spPr>
        <p:txBody>
          <a:bodyPr wrap="square" lIns="50800" tIns="50800" rIns="50800" bIns="5080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Helvetica Neue"/>
              </a:rPr>
              <a:t>Grader</a:t>
            </a:r>
          </a:p>
          <a:p>
            <a:pPr algn="ctr"/>
            <a:r>
              <a:rPr lang="en-US" sz="850" dirty="0">
                <a:solidFill>
                  <a:srgbClr val="FFFFFF"/>
                </a:solidFill>
                <a:latin typeface="Helvetica Neue"/>
              </a:rPr>
              <a:t>initial score + feedback</a:t>
            </a:r>
          </a:p>
        </p:txBody>
      </p:sp>
      <p:sp>
        <p:nvSpPr>
          <p:cNvPr id="21" name="Initial grade node"/>
          <p:cNvSpPr/>
          <p:nvPr/>
        </p:nvSpPr>
        <p:spPr>
          <a:xfrm>
            <a:off x="3904488" y="1517904"/>
            <a:ext cx="1335024" cy="768096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BE2"/>
            </a:solidFill>
          </a:ln>
          <a:effectLst>
            <a:outerShdw blurRad="63500" dist="25400" dir="5400000" algn="ctr" rotWithShape="0">
              <a:srgbClr val="000000">
                <a:alpha val="22000"/>
              </a:srgbClr>
            </a:outerShdw>
          </a:effectLst>
        </p:spPr>
        <p:txBody>
          <a:bodyPr wrap="square" lIns="50800" tIns="50800" rIns="50800" bIns="50800" anchor="ctr"/>
          <a:lstStyle/>
          <a:p>
            <a:pPr algn="ctr"/>
            <a:r>
              <a:rPr lang="en-US" sz="1200" b="1" dirty="0">
                <a:solidFill>
                  <a:srgbClr val="263049"/>
                </a:solidFill>
                <a:latin typeface="Helvetica Neue"/>
              </a:rPr>
              <a:t>Initial grade</a:t>
            </a:r>
          </a:p>
          <a:p>
            <a:pPr algn="ctr"/>
            <a:r>
              <a:rPr lang="en-US" sz="850" dirty="0">
                <a:solidFill>
                  <a:srgbClr val="566176"/>
                </a:solidFill>
                <a:latin typeface="Helvetica Neue"/>
              </a:rPr>
              <a:t>score + feedback</a:t>
            </a:r>
          </a:p>
        </p:txBody>
      </p:sp>
      <p:sp>
        <p:nvSpPr>
          <p:cNvPr id="22" name="Reflector node"/>
          <p:cNvSpPr/>
          <p:nvPr/>
        </p:nvSpPr>
        <p:spPr>
          <a:xfrm>
            <a:off x="5550408" y="1517904"/>
            <a:ext cx="1335024" cy="768096"/>
          </a:xfrm>
          <a:prstGeom prst="roundRect">
            <a:avLst/>
          </a:prstGeom>
          <a:solidFill>
            <a:srgbClr val="4C39B7"/>
          </a:solidFill>
          <a:ln>
            <a:noFill/>
          </a:ln>
          <a:effectLst>
            <a:outerShdw blurRad="63500" dist="25400" dir="5400000" algn="ctr" rotWithShape="0">
              <a:srgbClr val="000000">
                <a:alpha val="22000"/>
              </a:srgbClr>
            </a:outerShdw>
          </a:effectLst>
        </p:spPr>
        <p:txBody>
          <a:bodyPr wrap="square" lIns="50800" tIns="50800" rIns="50800" bIns="5080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Helvetica Neue"/>
              </a:rPr>
              <a:t>Reflector</a:t>
            </a:r>
          </a:p>
          <a:p>
            <a:pPr algn="ctr"/>
            <a:r>
              <a:rPr lang="en-US" sz="850" dirty="0">
                <a:solidFill>
                  <a:srgbClr val="FFFFFF"/>
                </a:solidFill>
                <a:latin typeface="Helvetica Neue"/>
              </a:rPr>
              <a:t>self-critique</a:t>
            </a:r>
          </a:p>
        </p:txBody>
      </p:sp>
      <p:sp>
        <p:nvSpPr>
          <p:cNvPr id="24" name="LLM badge parsing"/>
          <p:cNvSpPr/>
          <p:nvPr/>
        </p:nvSpPr>
        <p:spPr>
          <a:xfrm>
            <a:off x="914400" y="1188720"/>
            <a:ext cx="566928" cy="237744"/>
          </a:xfrm>
          <a:prstGeom prst="roundRect">
            <a:avLst/>
          </a:prstGeom>
          <a:solidFill>
            <a:srgbClr val="4E3CB2"/>
          </a:solidFill>
          <a:ln>
            <a:noFill/>
          </a:ln>
          <a:effectLst>
            <a:outerShdw blurRad="63500" dist="25400" dir="5400000" algn="ctr" rotWithShape="0">
              <a:srgbClr val="000000">
                <a:alpha val="22000"/>
              </a:srgbClr>
            </a:outerShdw>
          </a:effectLst>
        </p:spPr>
        <p:txBody>
          <a:bodyPr wrap="square" lIns="12700" tIns="12700" rIns="12700" bIns="1270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Helvetica Neue"/>
              </a:rPr>
              <a:t>LLM</a:t>
            </a:r>
          </a:p>
        </p:txBody>
      </p:sp>
      <p:sp>
        <p:nvSpPr>
          <p:cNvPr id="25" name="LLM badge grader"/>
          <p:cNvSpPr/>
          <p:nvPr/>
        </p:nvSpPr>
        <p:spPr>
          <a:xfrm>
            <a:off x="2615184" y="1188720"/>
            <a:ext cx="566928" cy="237744"/>
          </a:xfrm>
          <a:prstGeom prst="roundRect">
            <a:avLst/>
          </a:prstGeom>
          <a:solidFill>
            <a:srgbClr val="4E3CB2"/>
          </a:solidFill>
          <a:ln>
            <a:noFill/>
          </a:ln>
          <a:effectLst>
            <a:outerShdw blurRad="63500" dist="25400" dir="5400000" algn="ctr" rotWithShape="0">
              <a:srgbClr val="000000">
                <a:alpha val="22000"/>
              </a:srgbClr>
            </a:outerShdw>
          </a:effectLst>
        </p:spPr>
        <p:txBody>
          <a:bodyPr wrap="square" lIns="12700" tIns="12700" rIns="12700" bIns="1270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Helvetica Neue"/>
              </a:rPr>
              <a:t>LLM</a:t>
            </a:r>
          </a:p>
        </p:txBody>
      </p:sp>
      <p:sp>
        <p:nvSpPr>
          <p:cNvPr id="26" name="LLM badge reflector"/>
          <p:cNvSpPr/>
          <p:nvPr/>
        </p:nvSpPr>
        <p:spPr>
          <a:xfrm>
            <a:off x="5934456" y="1188720"/>
            <a:ext cx="566928" cy="237744"/>
          </a:xfrm>
          <a:prstGeom prst="roundRect">
            <a:avLst/>
          </a:prstGeom>
          <a:solidFill>
            <a:srgbClr val="4E3CB2"/>
          </a:solidFill>
          <a:ln>
            <a:noFill/>
          </a:ln>
          <a:effectLst>
            <a:outerShdw blurRad="63500" dist="25400" dir="5400000" algn="ctr" rotWithShape="0">
              <a:srgbClr val="000000">
                <a:alpha val="22000"/>
              </a:srgbClr>
            </a:outerShdw>
          </a:effectLst>
        </p:spPr>
        <p:txBody>
          <a:bodyPr wrap="square" lIns="12700" tIns="12700" rIns="12700" bIns="1270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Helvetica Neue"/>
              </a:rPr>
              <a:t>LLM</a:t>
            </a:r>
          </a:p>
        </p:txBody>
      </p:sp>
      <p:sp>
        <p:nvSpPr>
          <p:cNvPr id="27" name="Reflection critique node"/>
          <p:cNvSpPr/>
          <p:nvPr/>
        </p:nvSpPr>
        <p:spPr>
          <a:xfrm>
            <a:off x="3200400" y="2834640"/>
            <a:ext cx="2743200" cy="694944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BE2"/>
            </a:solidFill>
          </a:ln>
          <a:effectLst>
            <a:outerShdw blurRad="63500" dist="25400" dir="5400000" algn="ctr" rotWithShape="0">
              <a:srgbClr val="000000">
                <a:alpha val="22000"/>
              </a:srgbClr>
            </a:outerShdw>
          </a:effectLst>
        </p:spPr>
        <p:txBody>
          <a:bodyPr wrap="square" lIns="50800" tIns="50800" rIns="50800" bIns="50800" anchor="ctr"/>
          <a:lstStyle/>
          <a:p>
            <a:pPr algn="ctr"/>
            <a:r>
              <a:rPr lang="en-US" sz="1050" b="1" dirty="0">
                <a:solidFill>
                  <a:srgbClr val="263049"/>
                </a:solidFill>
                <a:latin typeface="Helvetica Neue"/>
              </a:rPr>
              <a:t>Reflection critique</a:t>
            </a:r>
          </a:p>
          <a:p>
            <a:pPr algn="ctr"/>
            <a:r>
              <a:rPr lang="en-US" sz="850" dirty="0">
                <a:solidFill>
                  <a:srgbClr val="566176"/>
                </a:solidFill>
                <a:latin typeface="Helvetica Neue"/>
              </a:rPr>
              <a:t>solution match · partial credit · unclear answer?</a:t>
            </a:r>
          </a:p>
        </p:txBody>
      </p:sp>
      <p:sp>
        <p:nvSpPr>
          <p:cNvPr id="28" name="Knowledge base node"/>
          <p:cNvSpPr/>
          <p:nvPr/>
        </p:nvSpPr>
        <p:spPr>
          <a:xfrm>
            <a:off x="2103120" y="3822192"/>
            <a:ext cx="4937760" cy="585216"/>
          </a:xfrm>
          <a:prstGeom prst="roundRect">
            <a:avLst/>
          </a:prstGeom>
          <a:solidFill>
            <a:srgbClr val="0E9A79"/>
          </a:solidFill>
          <a:ln>
            <a:noFill/>
          </a:ln>
          <a:effectLst>
            <a:outerShdw blurRad="63500" dist="25400" dir="5400000" algn="ctr" rotWithShape="0">
              <a:srgbClr val="000000">
                <a:alpha val="22000"/>
              </a:srgbClr>
            </a:outerShdw>
          </a:effectLst>
        </p:spPr>
        <p:txBody>
          <a:bodyPr wrap="square" lIns="50800" tIns="50800" rIns="50800" bIns="5080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Helvetica Neue"/>
              </a:rPr>
              <a:t>Knowledge base</a:t>
            </a:r>
          </a:p>
          <a:p>
            <a:pPr algn="ctr"/>
            <a:r>
              <a:rPr lang="en-US" sz="850" dirty="0">
                <a:solidFill>
                  <a:srgbClr val="D8DBE2"/>
                </a:solidFill>
                <a:latin typeface="Helvetica Neue"/>
              </a:rPr>
              <a:t>course notes · official solutions · TA-graded examples</a:t>
            </a:r>
          </a:p>
        </p:txBody>
      </p:sp>
      <p:sp>
        <p:nvSpPr>
          <p:cNvPr id="29" name="Repeat N times label"/>
          <p:cNvSpPr/>
          <p:nvPr/>
        </p:nvSpPr>
        <p:spPr>
          <a:xfrm>
            <a:off x="3246840" y="2468880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 dirty="0">
                <a:solidFill>
                  <a:srgbClr val="4C39B7"/>
                </a:solidFill>
                <a:latin typeface="Helvetica Neue"/>
              </a:rPr>
              <a:t>Revise until confident · max N passes</a:t>
            </a:r>
          </a:p>
        </p:txBody>
      </p:sp>
      <p:sp>
        <p:nvSpPr>
          <p:cNvPr id="31" name="RAG evidence label"/>
          <p:cNvSpPr/>
          <p:nvPr/>
        </p:nvSpPr>
        <p:spPr>
          <a:xfrm>
            <a:off x="1271016" y="3032760"/>
            <a:ext cx="11338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50" dirty="0">
                <a:solidFill>
                  <a:srgbClr val="7A8498"/>
                </a:solidFill>
                <a:latin typeface="Helvetica Neue"/>
              </a:rPr>
              <a:t>RAG evidence</a:t>
            </a:r>
          </a:p>
        </p:txBody>
      </p:sp>
      <p:sp>
        <p:nvSpPr>
          <p:cNvPr id="32" name="Approve or escalate label"/>
          <p:cNvSpPr/>
          <p:nvPr/>
        </p:nvSpPr>
        <p:spPr>
          <a:xfrm>
            <a:off x="7123176" y="2432304"/>
            <a:ext cx="1591056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850" b="1" dirty="0">
                <a:solidFill>
                  <a:srgbClr val="566176"/>
                </a:solidFill>
                <a:latin typeface="Helvetica Neue"/>
              </a:rPr>
              <a:t>Approve or escalate</a:t>
            </a:r>
          </a:p>
          <a:p>
            <a:pPr algn="ctr"/>
            <a:r>
              <a:rPr lang="en-US" sz="800" dirty="0">
                <a:solidFill>
                  <a:srgbClr val="7A8498"/>
                </a:solidFill>
                <a:latin typeface="Helvetica Neue"/>
              </a:rPr>
              <a:t>if still unsure after N passes</a:t>
            </a:r>
          </a:p>
        </p:txBody>
      </p:sp>
      <p:sp>
        <p:nvSpPr>
          <p:cNvPr id="6" name="RAG evidence label">
            <a:extLst>
              <a:ext uri="{FF2B5EF4-FFF2-40B4-BE49-F238E27FC236}">
                <a16:creationId xmlns:a16="http://schemas.microsoft.com/office/drawing/2014/main" id="{79696740-27FB-D47F-0108-A48CDD75793A}"/>
              </a:ext>
            </a:extLst>
          </p:cNvPr>
          <p:cNvSpPr/>
          <p:nvPr/>
        </p:nvSpPr>
        <p:spPr>
          <a:xfrm>
            <a:off x="6656832" y="3049524"/>
            <a:ext cx="11338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50" dirty="0">
                <a:solidFill>
                  <a:srgbClr val="7A8498"/>
                </a:solidFill>
                <a:latin typeface="Helvetica Neue"/>
              </a:rPr>
              <a:t>RAG evidence</a:t>
            </a:r>
          </a:p>
        </p:txBody>
      </p:sp>
      <p:sp>
        <p:nvSpPr>
          <p:cNvPr id="7" name="Initial grade node">
            <a:extLst>
              <a:ext uri="{FF2B5EF4-FFF2-40B4-BE49-F238E27FC236}">
                <a16:creationId xmlns:a16="http://schemas.microsoft.com/office/drawing/2014/main" id="{4BB3E8D2-23E6-4D7B-0C23-C983BE89191D}"/>
              </a:ext>
            </a:extLst>
          </p:cNvPr>
          <p:cNvSpPr/>
          <p:nvPr/>
        </p:nvSpPr>
        <p:spPr>
          <a:xfrm>
            <a:off x="7187184" y="1527048"/>
            <a:ext cx="1389888" cy="768096"/>
          </a:xfrm>
          <a:prstGeom prst="roundRect">
            <a:avLst/>
          </a:prstGeom>
          <a:solidFill>
            <a:srgbClr val="4B4B47"/>
          </a:solidFill>
          <a:ln>
            <a:noFill/>
          </a:ln>
          <a:effectLst>
            <a:outerShdw blurRad="63500" dist="25400" dir="5400000" algn="ctr" rotWithShape="0">
              <a:srgbClr val="000000">
                <a:alpha val="22000"/>
              </a:srgbClr>
            </a:outerShdw>
          </a:effectLst>
        </p:spPr>
        <p:txBody>
          <a:bodyPr wrap="square" lIns="50800" tIns="50800" rIns="50800" bIns="508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"/>
                <a:ea typeface="+mn-ea"/>
                <a:cs typeface="+mn-cs"/>
              </a:rPr>
              <a:t>Final result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D8DBE2"/>
                </a:solidFill>
                <a:effectLst/>
                <a:uLnTx/>
                <a:uFillTx/>
                <a:latin typeface="Helvetica Neue"/>
                <a:ea typeface="+mn-ea"/>
                <a:cs typeface="+mn-cs"/>
              </a:rPr>
              <a:t>grade + feedback + trace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30000"/>
            <a:ext cx="804672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CheckMate’s system prompt</a:t>
            </a:r>
          </a:p>
        </p:txBody>
      </p:sp>
      <p:sp>
        <p:nvSpPr>
          <p:cNvPr id="3" name="Subtitle"/>
          <p:cNvSpPr/>
          <p:nvPr/>
        </p:nvSpPr>
        <p:spPr>
          <a:xfrm>
            <a:off x="548640" y="900000"/>
            <a:ext cx="804672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prompt-engineering techniques we built into the grading prompt.</a:t>
            </a:r>
          </a:p>
        </p:txBody>
      </p:sp>
      <p:sp>
        <p:nvSpPr>
          <p:cNvPr id="4" name="PromptCard"/>
          <p:cNvSpPr/>
          <p:nvPr/>
        </p:nvSpPr>
        <p:spPr>
          <a:xfrm>
            <a:off x="548640" y="1440000"/>
            <a:ext cx="5000000" cy="3400000"/>
          </a:xfrm>
          <a:prstGeom prst="roundRect">
            <a:avLst>
              <a:gd name="adj" fmla="val 2600"/>
            </a:avLst>
          </a:prstGeom>
          <a:solidFill>
            <a:srgbClr val="F5F6FB"/>
          </a:solidFill>
          <a:ln w="12700">
            <a:solidFill>
              <a:srgbClr val="E4E6F2"/>
            </a:solidFill>
          </a:ln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HdrDot"/>
          <p:cNvSpPr/>
          <p:nvPr/>
        </p:nvSpPr>
        <p:spPr>
          <a:xfrm>
            <a:off x="808640" y="1660000"/>
            <a:ext cx="170000" cy="170000"/>
          </a:xfrm>
          <a:prstGeom prst="ellipse">
            <a:avLst/>
          </a:prstGeom>
          <a:solidFill>
            <a:srgbClr val="1D8F73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HdrLbl"/>
          <p:cNvSpPr/>
          <p:nvPr/>
        </p:nvSpPr>
        <p:spPr>
          <a:xfrm>
            <a:off x="1058640" y="1600000"/>
            <a:ext cx="4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spc="120" dirty="0">
                <a:solidFill>
                  <a:srgbClr val="64708A"/>
                </a:solidFill>
                <a:latin typeface="Calibri" pitchFamily="34" charset="0"/>
                <a:cs typeface="Calibri" pitchFamily="34" charset="-120"/>
              </a:rPr>
              <a:t>SYSTEM PROMPT</a:t>
            </a:r>
          </a:p>
        </p:txBody>
      </p:sp>
      <p:sp>
        <p:nvSpPr>
          <p:cNvPr id="7" name="PromptBody"/>
          <p:cNvSpPr/>
          <p:nvPr/>
        </p:nvSpPr>
        <p:spPr>
          <a:xfrm>
            <a:off x="808640" y="2000000"/>
            <a:ext cx="4520000" cy="27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34AB7"/>
                </a:solidFill>
                <a:latin typeface="Consolas" pitchFamily="49" charset="0"/>
                <a:cs typeface="Consolas"/>
              </a:rPr>
              <a:t>PERSONA · </a:t>
            </a:r>
            <a:r>
              <a:rPr lang="en-US" sz="1000" dirty="0">
                <a:solidFill>
                  <a:srgbClr val="1F2430"/>
                </a:solidFill>
                <a:latin typeface="Consolas" pitchFamily="49" charset="0"/>
                <a:cs typeface="Consolas"/>
              </a:rPr>
              <a:t>You are a senior TA grading Calculus 1</a:t>
            </a:r>
          </a:p>
          <a:p>
            <a:pPr marL="0" indent="0" algn="l">
              <a:lnSpc>
                <a:spcPct val="1180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onsolas" pitchFamily="49" charset="0"/>
                <a:cs typeface="Consolas"/>
              </a:rPr>
              <a:t>exams — rigorous, fair, and consistent.</a:t>
            </a:r>
          </a:p>
          <a:p>
            <a:pPr marL="0" indent="0" algn="l">
              <a:lnSpc>
                <a:spcPct val="60000"/>
              </a:lnSpc>
              <a:buNone/>
            </a:pPr>
            <a:endParaRPr lang="en-US" sz="1000" dirty="0">
              <a:latin typeface="Consolas"/>
            </a:endParaRPr>
          </a:p>
          <a:p>
            <a:pPr marL="0" indent="0" algn="l">
              <a:lnSpc>
                <a:spcPct val="1180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onsolas" pitchFamily="49" charset="0"/>
                <a:cs typeface="Consolas"/>
              </a:rPr>
              <a:t>You receive one question at a time with the</a:t>
            </a:r>
          </a:p>
          <a:p>
            <a:pPr marL="0" indent="0" algn="l">
              <a:lnSpc>
                <a:spcPct val="1180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onsolas" pitchFamily="49" charset="0"/>
                <a:cs typeface="Consolas"/>
              </a:rPr>
              <a:t>student’s work and official solution.</a:t>
            </a:r>
          </a:p>
          <a:p>
            <a:pPr marL="0" indent="0" algn="l">
              <a:lnSpc>
                <a:spcPct val="60000"/>
              </a:lnSpc>
              <a:buNone/>
            </a:pPr>
            <a:endParaRPr lang="en-US" sz="1000" dirty="0">
              <a:latin typeface="Consolas"/>
            </a:endParaRPr>
          </a:p>
          <a:p>
            <a:pPr marL="0" indent="0" algn="l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1D8F73"/>
                </a:solidFill>
                <a:latin typeface="Consolas" pitchFamily="49" charset="0"/>
                <a:cs typeface="Consolas"/>
              </a:rPr>
              <a:t>REASONING · </a:t>
            </a:r>
            <a:r>
              <a:rPr lang="en-US" sz="1000" dirty="0">
                <a:solidFill>
                  <a:srgbClr val="1F2430"/>
                </a:solidFill>
                <a:latin typeface="Consolas" pitchFamily="49" charset="0"/>
                <a:cs typeface="Consolas"/>
              </a:rPr>
              <a:t>Think step by step:</a:t>
            </a:r>
          </a:p>
          <a:p>
            <a:pPr marL="0" indent="0" algn="l">
              <a:lnSpc>
                <a:spcPct val="1180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onsolas" pitchFamily="49" charset="0"/>
                <a:cs typeface="Consolas"/>
              </a:rPr>
              <a:t>restate the method, compare to the correct</a:t>
            </a:r>
          </a:p>
          <a:p>
            <a:pPr marL="0" indent="0" algn="l">
              <a:lnSpc>
                <a:spcPct val="1180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onsolas" pitchFamily="49" charset="0"/>
                <a:cs typeface="Consolas"/>
              </a:rPr>
              <a:t>one, find where credit is lost, then score.</a:t>
            </a:r>
          </a:p>
          <a:p>
            <a:pPr marL="0" indent="0" algn="l">
              <a:lnSpc>
                <a:spcPct val="60000"/>
              </a:lnSpc>
              <a:buNone/>
            </a:pPr>
            <a:endParaRPr lang="en-US" sz="1000" dirty="0">
              <a:latin typeface="Consolas"/>
            </a:endParaRPr>
          </a:p>
          <a:p>
            <a:pPr marL="0" indent="0" algn="l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D85A30"/>
                </a:solidFill>
                <a:latin typeface="Consolas" pitchFamily="49" charset="0"/>
                <a:cs typeface="Consolas"/>
              </a:rPr>
              <a:t>FEW-SHOT · </a:t>
            </a:r>
            <a:r>
              <a:rPr lang="en-US" sz="1000" dirty="0">
                <a:solidFill>
                  <a:srgbClr val="1F2430"/>
                </a:solidFill>
                <a:latin typeface="Consolas" pitchFamily="49" charset="0"/>
                <a:cs typeface="Consolas"/>
              </a:rPr>
              <a:t>Example —</a:t>
            </a:r>
          </a:p>
          <a:p>
            <a:pPr marL="0" indent="0" algn="l">
              <a:lnSpc>
                <a:spcPct val="118000"/>
              </a:lnSpc>
              <a:buNone/>
            </a:pPr>
            <a:r>
              <a:rPr lang="en-US" sz="1000" dirty="0">
                <a:solidFill>
                  <a:srgbClr val="64708A"/>
                </a:solidFill>
                <a:latin typeface="Consolas" pitchFamily="49" charset="0"/>
                <a:cs typeface="Consolas"/>
              </a:rPr>
              <a:t> Student: d/dx[x²·ln x] = 2x·ln x</a:t>
            </a:r>
          </a:p>
          <a:p>
            <a:pPr marL="0" indent="0" algn="l">
              <a:lnSpc>
                <a:spcPct val="118000"/>
              </a:lnSpc>
              <a:buNone/>
            </a:pPr>
            <a:r>
              <a:rPr lang="en-US" sz="1000" dirty="0">
                <a:solidFill>
                  <a:srgbClr val="64708A"/>
                </a:solidFill>
                <a:latin typeface="Consolas" pitchFamily="49" charset="0"/>
                <a:cs typeface="Consolas"/>
              </a:rPr>
              <a:t> You: rule started; missing x²·(1/x)=x.</a:t>
            </a:r>
          </a:p>
          <a:p>
            <a:pPr marL="0" indent="0" algn="l">
              <a:lnSpc>
                <a:spcPct val="118000"/>
              </a:lnSpc>
              <a:buNone/>
            </a:pPr>
            <a:r>
              <a:rPr lang="en-US" sz="1000" dirty="0">
                <a:solidFill>
                  <a:srgbClr val="64708A"/>
                </a:solidFill>
                <a:latin typeface="Consolas" pitchFamily="49" charset="0"/>
                <a:cs typeface="Consolas"/>
              </a:rPr>
              <a:t>      Method sound → 3 / 5.</a:t>
            </a:r>
          </a:p>
          <a:p>
            <a:pPr marL="0" indent="0" algn="l">
              <a:lnSpc>
                <a:spcPct val="60000"/>
              </a:lnSpc>
              <a:buNone/>
            </a:pPr>
            <a:endParaRPr lang="en-US" sz="1000" dirty="0">
              <a:latin typeface="Consolas"/>
            </a:endParaRPr>
          </a:p>
          <a:p>
            <a:pPr marL="0" indent="0" algn="l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185FA5"/>
                </a:solidFill>
                <a:latin typeface="Consolas" pitchFamily="49" charset="0"/>
                <a:cs typeface="Consolas"/>
              </a:rPr>
              <a:t>OUTPUT · </a:t>
            </a:r>
            <a:r>
              <a:rPr lang="en-US" sz="1000" dirty="0">
                <a:solidFill>
                  <a:srgbClr val="1F2430"/>
                </a:solidFill>
                <a:latin typeface="Consolas" pitchFamily="49" charset="0"/>
                <a:cs typeface="Consolas"/>
              </a:rPr>
              <a:t>feedback · score · justification.</a:t>
            </a:r>
          </a:p>
        </p:txBody>
      </p:sp>
      <p:sp>
        <p:nvSpPr>
          <p:cNvPr id="10" name="Leg1"/>
          <p:cNvSpPr/>
          <p:nvPr/>
        </p:nvSpPr>
        <p:spPr>
          <a:xfrm>
            <a:off x="5750000" y="1440000"/>
            <a:ext cx="2845000" cy="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F2"/>
            </a:solidFill>
          </a:ln>
          <a:effectLst>
            <a:outerShdw blurRad="88900" dist="38100" dir="540000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Dot1"/>
          <p:cNvSpPr/>
          <p:nvPr/>
        </p:nvSpPr>
        <p:spPr>
          <a:xfrm>
            <a:off x="5960000" y="1650000"/>
            <a:ext cx="200000" cy="200000"/>
          </a:xfrm>
          <a:prstGeom prst="ellipse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LegTxt1"/>
          <p:cNvSpPr/>
          <p:nvPr/>
        </p:nvSpPr>
        <p:spPr>
          <a:xfrm>
            <a:off x="6270000" y="1560000"/>
            <a:ext cx="216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2430"/>
                </a:solidFill>
                <a:latin typeface="Calibri"/>
                <a:cs typeface="Calibri"/>
              </a:rPr>
              <a:t>Persona pattern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64708A"/>
                </a:solidFill>
                <a:latin typeface="Calibri"/>
                <a:cs typeface="Calibri"/>
              </a:rPr>
              <a:t>An expert, consistent grader voice.</a:t>
            </a:r>
          </a:p>
        </p:txBody>
      </p:sp>
      <p:sp>
        <p:nvSpPr>
          <p:cNvPr id="13" name="Leg2"/>
          <p:cNvSpPr/>
          <p:nvPr/>
        </p:nvSpPr>
        <p:spPr>
          <a:xfrm>
            <a:off x="5750000" y="2293000"/>
            <a:ext cx="2845000" cy="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F2"/>
            </a:solidFill>
          </a:ln>
          <a:effectLst>
            <a:outerShdw blurRad="88900" dist="38100" dir="540000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Dot2"/>
          <p:cNvSpPr/>
          <p:nvPr/>
        </p:nvSpPr>
        <p:spPr>
          <a:xfrm>
            <a:off x="5960000" y="2503000"/>
            <a:ext cx="200000" cy="200000"/>
          </a:xfrm>
          <a:prstGeom prst="ellipse">
            <a:avLst/>
          </a:prstGeom>
          <a:solidFill>
            <a:srgbClr val="1D8F73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5" name="LegTxt2"/>
          <p:cNvSpPr/>
          <p:nvPr/>
        </p:nvSpPr>
        <p:spPr>
          <a:xfrm>
            <a:off x="6270000" y="2413000"/>
            <a:ext cx="216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2430"/>
                </a:solidFill>
                <a:latin typeface="Calibri"/>
                <a:cs typeface="Calibri"/>
              </a:rPr>
              <a:t>Chain-of-thought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64708A"/>
                </a:solidFill>
                <a:latin typeface="Calibri"/>
                <a:cs typeface="Calibri"/>
              </a:rPr>
              <a:t>Reason step by step before scoring.</a:t>
            </a:r>
          </a:p>
        </p:txBody>
      </p:sp>
      <p:sp>
        <p:nvSpPr>
          <p:cNvPr id="16" name="Leg3"/>
          <p:cNvSpPr/>
          <p:nvPr/>
        </p:nvSpPr>
        <p:spPr>
          <a:xfrm>
            <a:off x="5750000" y="3146000"/>
            <a:ext cx="2845000" cy="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F2"/>
            </a:solidFill>
          </a:ln>
          <a:effectLst>
            <a:outerShdw blurRad="88900" dist="38100" dir="540000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7" name="Dot3"/>
          <p:cNvSpPr/>
          <p:nvPr/>
        </p:nvSpPr>
        <p:spPr>
          <a:xfrm>
            <a:off x="5960000" y="3356000"/>
            <a:ext cx="200000" cy="200000"/>
          </a:xfrm>
          <a:prstGeom prst="ellipse">
            <a:avLst/>
          </a:prstGeom>
          <a:solidFill>
            <a:srgbClr val="D85A3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" name="LegTxt3"/>
          <p:cNvSpPr/>
          <p:nvPr/>
        </p:nvSpPr>
        <p:spPr>
          <a:xfrm>
            <a:off x="6270000" y="3266000"/>
            <a:ext cx="216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2430"/>
                </a:solidFill>
                <a:latin typeface="Calibri"/>
                <a:cs typeface="Calibri"/>
              </a:rPr>
              <a:t>Few-shot example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64708A"/>
                </a:solidFill>
                <a:latin typeface="Calibri"/>
                <a:cs typeface="Calibri"/>
              </a:rPr>
              <a:t>One worked case sets the standard.</a:t>
            </a:r>
          </a:p>
        </p:txBody>
      </p:sp>
      <p:sp>
        <p:nvSpPr>
          <p:cNvPr id="19" name="Leg4"/>
          <p:cNvSpPr/>
          <p:nvPr/>
        </p:nvSpPr>
        <p:spPr>
          <a:xfrm>
            <a:off x="5750000" y="3999000"/>
            <a:ext cx="2845000" cy="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F2"/>
            </a:solidFill>
          </a:ln>
          <a:effectLst>
            <a:outerShdw blurRad="88900" dist="38100" dir="540000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0" name="Dot4"/>
          <p:cNvSpPr/>
          <p:nvPr/>
        </p:nvSpPr>
        <p:spPr>
          <a:xfrm>
            <a:off x="5960000" y="4209000"/>
            <a:ext cx="200000" cy="200000"/>
          </a:xfrm>
          <a:prstGeom prst="ellipse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LegTxt4"/>
          <p:cNvSpPr/>
          <p:nvPr/>
        </p:nvSpPr>
        <p:spPr>
          <a:xfrm>
            <a:off x="6270000" y="4119000"/>
            <a:ext cx="216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2430"/>
                </a:solidFill>
                <a:latin typeface="Calibri"/>
                <a:cs typeface="Calibri"/>
              </a:rPr>
              <a:t>Structured output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64708A"/>
                </a:solidFill>
                <a:latin typeface="Calibri"/>
                <a:cs typeface="Calibri"/>
              </a:rPr>
              <a:t>Predictable fields the app can parse.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CheckMate's grades hold up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5603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658368" cy="658368"/>
          </a:xfrm>
          <a:prstGeom prst="ellipse">
            <a:avLst/>
          </a:prstGeom>
          <a:solidFill>
            <a:srgbClr val="1D8F73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03911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791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 the source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3209544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grade is grounded in the official solution and course notes — not invented.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91840" y="1600200"/>
            <a:ext cx="25603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9" name="Shape 6"/>
          <p:cNvSpPr/>
          <p:nvPr/>
        </p:nvSpPr>
        <p:spPr>
          <a:xfrm>
            <a:off x="3566160" y="1874520"/>
            <a:ext cx="658368" cy="658368"/>
          </a:xfrm>
          <a:prstGeom prst="ellipse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752" y="2039112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26791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Checks its own grade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3566160" y="3209544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Critiques each grade and revises until confident — capped at N passes.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035040" y="1600200"/>
            <a:ext cx="25603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10"/>
          <p:cNvSpPr/>
          <p:nvPr/>
        </p:nvSpPr>
        <p:spPr>
          <a:xfrm>
            <a:off x="6309360" y="1874520"/>
            <a:ext cx="658368" cy="658368"/>
          </a:xfrm>
          <a:prstGeom prst="ellipse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2039112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26791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Escalates when unsure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6309360" y="3209544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or unclear answers go to the teacher, never guessed.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CheckMate goes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60920" y="475488"/>
            <a:ext cx="1234440" cy="411480"/>
          </a:xfrm>
          <a:prstGeom prst="roundRect">
            <a:avLst>
              <a:gd name="adj" fmla="val 48889"/>
            </a:avLst>
          </a:prstGeom>
          <a:solidFill>
            <a:srgbClr val="BA751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7360920" y="47548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course deliverable — same engine, three directions.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score distribution</a:t>
            </a:r>
            <a:endParaRPr lang="en-US" sz="15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02920" y="1828800"/>
          <a:ext cx="4114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224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0" y="1600200"/>
            <a:ext cx="502920" cy="502920"/>
          </a:xfrm>
          <a:prstGeom prst="ellipse">
            <a:avLst/>
          </a:prstGeom>
          <a:solidFill>
            <a:srgbClr val="FDF3E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504" y="1746504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1500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trends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715000" y="191109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spread, hardest questions, and topic gaps for the lecturer.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029200" y="2496312"/>
            <a:ext cx="502920" cy="502920"/>
          </a:xfrm>
          <a:prstGeom prst="ellipse">
            <a:avLst/>
          </a:prstGeom>
          <a:solidFill>
            <a:srgbClr val="FDF3E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504" y="2642616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715000" y="24505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mode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715000" y="28072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grader on homework — feedback before the exam.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029200" y="3392424"/>
            <a:ext cx="502920" cy="502920"/>
          </a:xfrm>
          <a:prstGeom prst="ellipse">
            <a:avLst/>
          </a:prstGeom>
          <a:solidFill>
            <a:srgbClr val="FDF3E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504" y="3538728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715000" y="33467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Improves every round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5715000" y="3703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escalations become new graded examples.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148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Fast, consistent, fair feedback.</a:t>
            </a:r>
            <a:endParaRPr lang="en-US" sz="38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A20F4F80-8FD9-5099-F816-92E147B57A51}"/>
              </a:ext>
            </a:extLst>
          </p:cNvPr>
          <p:cNvSpPr/>
          <p:nvPr/>
        </p:nvSpPr>
        <p:spPr>
          <a:xfrm>
            <a:off x="1554480" y="1161143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CheckMate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  <wetp:taskpane dockstate="right" visibility="0" width="467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E15201A-AFF8-482A-8D37-889E7AF5A947}">
  <we:reference id="WA200010215" version="2.0.0.0" store="Omex" storeType="OMEX"/>
  <we:alternateReferences>
    <we:reference id="WA200010215" version="2.0.0.0" store="WA200010215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8F673A45-361D-4A24-9251-70B6A00D28F5}">
  <we:reference id="wa200010725" version="1.0.0.1" store="he-IL" storeType="OMEX"/>
  <we:alternateReferences>
    <we:reference id="WA200010725" version="1.0.0.1" store="WA200010725" storeType="OMEX"/>
  </we:alternateReferences>
  <we:properties>
    <we:property name="claude.fileId" value="&quot;57d0fe83-ba90-4fed-9ec7-3b09d4cfe35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2162</TotalTime>
  <Words>1031</Words>
  <Application>Microsoft Office PowerPoint</Application>
  <PresentationFormat>‫הצגה על המסך (16:9)</PresentationFormat>
  <Paragraphs>123</Paragraphs>
  <Slides>11</Slides>
  <Notes>9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11</vt:i4>
      </vt:variant>
    </vt:vector>
  </HeadingPairs>
  <TitlesOfParts>
    <vt:vector size="18" baseType="lpstr">
      <vt:lpstr>Arial</vt:lpstr>
      <vt:lpstr>Calibri</vt:lpstr>
      <vt:lpstr>Cambria</vt:lpstr>
      <vt:lpstr>Consolas</vt:lpstr>
      <vt:lpstr>Georgia</vt:lpstr>
      <vt:lpstr>Helvetica Neue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CheckMate — Autonomous Calculus Grader</dc:title>
  <dc:subject>PptxGenJS Presentation</dc:subject>
  <dc:creator>Team</dc:creator>
  <cp:lastModifiedBy>Elad Nachalieli</cp:lastModifiedBy>
  <cp:revision>25</cp:revision>
  <dcterms:created xsi:type="dcterms:W3CDTF">2026-07-07T06:30:46Z</dcterms:created>
  <dcterms:modified xsi:type="dcterms:W3CDTF">2026-07-10T08:15:12Z</dcterms:modified>
</cp:coreProperties>
</file>