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0–50</c:v>
                  </c:pt>
                  <c:pt idx="1">
                    <c:v>51–70</c:v>
                  </c:pt>
                  <c:pt idx="2">
                    <c:v>71–85</c:v>
                  </c:pt>
                  <c:pt idx="3">
                    <c:v>86–100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0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0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 and one sentence: this is an agent that grades handwritten Calculus exams on its own. Keep it to 15 seconds — the why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time, delay, fairness. Land the fairness one hardest — inconsistency is what students actually 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'why'. Say it slowly. The key turn: grading is reasoning, so it deserves an agent, not a workflow. That framing sets up the whole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line, one picture: scan in, grade out. Stress that it evaluates the student's own approach, so alternative valid methods still get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proof it works. The Verifier catches the missing x term with symbolic math, and the agent still awards partial credit for correct method. Then say: this runs for every question and totals the exam. This is the moment to win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pipeline, no central orchestrator or planner: OCR (Reader) -&gt; rubric match (Retriever, direct lookup + RAG) -&gt; score + feedback (Grader) -&gt; reflection check (Reflector) -&gt; result. Questions run in parallel on gpt-5.4-mini. The only decision point is the conditional reflection step, shown next. No open tool-selection loop, no multi-agent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honestly: the system is NOT fully autonomous. It is a fixed pipeline with limited, question-level autonomy at one step. The Reflector may only choose among four actions: APPROVE, REVISE, RETRY_OCR, ESCALATE_TO_TEACHER. Hard caps: at most one revise and one OCR retry; after that it must approve or escalate. Minimal state carried: extracted_answer, proposed_score, feedback, confidence, reflection_decision, retry_count, requires_teacher_review. This keeps response time short, cost low, and the process transparent for the teacher — no long loops, no wasted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rests on three things: grounding (retrieval of the official solution + rubric), reflection, and knowing when to refuse. Grounding is the key anti-hallucination point — grades follow the material, not the model's memory. Budget and speed are handled in the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is required (it's in the project guidelines). Keep it minimal: upload an exam, see the grade + per-question feedback, and open the steps[] trace. Numbers here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clearly as future work (Roadmap badge). The same per-exam agent scales to a whole batch; then an aggregation layer reflects trends: score distribution, most-missed questions, recurring misconceptions, topic mastery. The chart numbers are illustrative. This turns a grader into an analytics tool for the lecturer.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Bookend to the why. End on the student benefit, then invite questions. Total target: under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914400"/>
            <a:ext cx="3108960" cy="3108960"/>
          </a:xfrm>
          <a:prstGeom prst="ellipse">
            <a:avLst/>
          </a:prstGeom>
          <a:solidFill>
            <a:srgbClr val="2C3576"/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1463040"/>
            <a:ext cx="2011680" cy="20116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031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00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CheckMate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grades Calculus 1 exams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 ·  Team name  ·  AI Agents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Calculus by hand doesn't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 round, the same bottleneck.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of manual 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grade hundreds of scripts, question by question, every single round.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74520"/>
            <a:ext cx="658368" cy="658368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39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feedback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308152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days to find out where they went wrong — after they've moved 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874520"/>
            <a:ext cx="658368" cy="658368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0391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credit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09360" y="3081528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credit drifts between graders and across a long stack. Same mistake, different score.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believe feedback should be </a:t>
            </a:r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instant, consistent, and fair</a:t>
            </a:r>
            <a:pPr algn="l" indent="0" marL="0">
              <a:lnSpc>
                <a:spcPct val="108000"/>
              </a:lnSpc>
              <a:buNone/>
            </a:pPr>
            <a:r>
              <a:rPr lang="en-US" sz="33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for every student, on every question.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66928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is a reasoning task, not a checklist. So instead of a rigid script, we give it to an agent that reasons through a solution the way a good TA does.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CheckMate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scanned exam. It returns a score, partial credit, and written feedback for every question.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scanned exam (all pages)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770632"/>
            <a:ext cx="365760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0" y="2148840"/>
            <a:ext cx="2468880" cy="1554480"/>
          </a:xfrm>
          <a:prstGeom prst="roundRect">
            <a:avLst>
              <a:gd name="adj" fmla="val 5294"/>
            </a:avLst>
          </a:prstGeom>
          <a:solidFill>
            <a:srgbClr val="534AB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231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reasons + verifies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70632"/>
            <a:ext cx="365760" cy="31089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766560" y="2148840"/>
            <a:ext cx="1828800" cy="1554480"/>
          </a:xfrm>
          <a:prstGeom prst="roundRect">
            <a:avLst>
              <a:gd name="adj" fmla="val 5294"/>
            </a:avLst>
          </a:prstGeom>
          <a:solidFill>
            <a:srgbClr val="1D8F7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42316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1228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feedback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4864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every page, splits the exam into questions, and grades each on the student's actual method.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from the exam, graded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3F4FB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 d/dx [ x² · ln x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wrote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2x · ln 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(stops after the first product-rule term)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r" indent="0" marL="0">
              <a:buNone/>
            </a:pPr>
            <a:r>
              <a:rPr lang="en-US" sz="2200" dirty="0">
                <a:solidFill>
                  <a:srgbClr val="64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 applied to the first term — correct.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second term: x² · (1/x) = x.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sound, one term omitted → partial credit.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Symbolically verified:  </a:t>
            </a:r>
            <a:pPr indent="0" marL="0">
              <a:buNone/>
            </a:pPr>
            <a:r>
              <a:rPr lang="en-US" sz="1250" b="1" dirty="0">
                <a:solidFill>
                  <a:srgbClr val="1D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 2x·ln x + 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…repeated for every question, then totaled into the final exam grade.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CheckMate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5F5E5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exam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D8F7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31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17420" y="23317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5F5E5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17420" y="2331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match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86200" y="23317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D8F7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2331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feedback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54980" y="23317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D8F7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54980" y="2331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check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233172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5F5E5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2331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+ trace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3776" y="2167128"/>
            <a:ext cx="402336" cy="402336"/>
          </a:xfrm>
          <a:prstGeom prst="ellipse">
            <a:avLst/>
          </a:prstGeom>
          <a:solidFill>
            <a:srgbClr val="534AB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31336" y="2167128"/>
            <a:ext cx="402336" cy="402336"/>
          </a:xfrm>
          <a:prstGeom prst="ellipse">
            <a:avLst/>
          </a:prstGeom>
          <a:solidFill>
            <a:srgbClr val="534AB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00116" y="2167128"/>
            <a:ext cx="402336" cy="402336"/>
          </a:xfrm>
          <a:prstGeom prst="ellipse">
            <a:avLst/>
          </a:prstGeom>
          <a:solidFill>
            <a:srgbClr val="534AB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011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20240" y="2688336"/>
            <a:ext cx="297180" cy="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89020" y="2688336"/>
            <a:ext cx="297180" cy="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57800" y="2688336"/>
            <a:ext cx="2971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26580" y="2688336"/>
            <a:ext cx="297180" cy="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234440" y="1764792"/>
            <a:ext cx="0" cy="566928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011680" y="39776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6B6A6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· rubric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03220" y="3044952"/>
            <a:ext cx="0" cy="932688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4014720" y="3140000"/>
            <a:ext cx="19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↔ reflect  ·  revise ≤ 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loop  ·  questions graded in parallel  ·  every LLM call on gpt-5.4-mini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0780" y="3080000"/>
            <a:ext cx="0" cy="440000"/>
          </a:xfrm>
          <a:prstGeom prst="line">
            <a:avLst/>
          </a:prstGeom>
          <a:noFill/>
          <a:ln w="19050">
            <a:solidFill>
              <a:srgbClr val="8A93A8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54980" y="35600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54980" y="3560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/ flag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ungradeable input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CheckMate grades, then checks itself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confidence is low, the rubric match is unclear, score and feedback disagree, or the OCR text is unclear.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34640" y="16916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534AB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3464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check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exactly one 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D8F7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result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21585" y="2926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BA751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1585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 ≤ 1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re-grade once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3615" y="2926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BA751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3615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RETRY_OCR  ≤ 1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once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29260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D85A3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teacher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423160"/>
            <a:ext cx="-3108960" cy="50292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423160"/>
            <a:ext cx="-1036015" cy="50292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423160"/>
            <a:ext cx="1036015" cy="50292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2423160"/>
            <a:ext cx="3108960" cy="502920"/>
          </a:xfrm>
          <a:prstGeom prst="line">
            <a:avLst/>
          </a:prstGeom>
          <a:noFill/>
          <a:ln w="19050">
            <a:solidFill>
              <a:srgbClr val="8A93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406908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0690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reflection agent: it grades, then evaluates its own grade and decides whether to revise.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corrects itself at most once, and stops on its own when the grade is sound.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Self-critique, self-correction, self-termination — escalating to the teacher only when it can't be sure.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CheckMate's grades hold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1D8F7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the source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0815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official solution and rubric, so grades follow the material — not invention.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874520"/>
            <a:ext cx="658368" cy="658368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3911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its own grade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566160" y="30815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grade looks shaky, it critiques and fixes it once before returning.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160020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874520"/>
            <a:ext cx="658368" cy="658368"/>
          </a:xfrm>
          <a:prstGeom prst="ellipse">
            <a:avLst/>
          </a:prstGeom>
          <a:solidFill>
            <a:srgbClr val="BA751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0391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Escalates when unsure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309360" y="30815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unclear answers go to the teacher, never guessed.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8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gpt-5.4-mini within the $13 budget — the agent checks its own grade and questions grade in parallel.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CheckMate work: the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exam, get the grade and feedback, and inspect every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E4E6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2402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3F4FB"/>
          </a:solidFill>
          <a:ln w="12700">
            <a:solidFill>
              <a:srgbClr val="C7CB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31720" y="2487168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6243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exam scan  (PDF / images)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74520" y="38404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/>
        </p:spPr>
      </p:sp>
      <p:sp>
        <p:nvSpPr>
          <p:cNvPr id="12" name="Text 9"/>
          <p:cNvSpPr/>
          <p:nvPr/>
        </p:nvSpPr>
        <p:spPr>
          <a:xfrm>
            <a:off x="1874520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exam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224028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BFBFE"/>
          </a:solidFill>
          <a:ln w="12700">
            <a:solidFill>
              <a:srgbClr val="E4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pPr indent="0" marL="0">
              <a:buNone/>
            </a:pPr>
            <a:r>
              <a:rPr lang="en-US" sz="1800" dirty="0">
                <a:solidFill>
                  <a:srgbClr val="64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100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663440" y="3200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Q1–Q6 graded with partial credit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feedback written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steps[] trace attached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UI is part of the deliverable — submit, grade, and inspect the trace.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Future: grade the batch, see the trends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60920" y="475488"/>
            <a:ext cx="1234440" cy="411480"/>
          </a:xfrm>
          <a:prstGeom prst="roundRect">
            <a:avLst>
              <a:gd name="adj" fmla="val 48889"/>
            </a:avLst>
          </a:prstGeom>
          <a:solidFill>
            <a:srgbClr val="BA7517"/>
          </a:solidFill>
          <a:ln/>
        </p:spPr>
      </p:sp>
      <p:sp>
        <p:nvSpPr>
          <p:cNvPr id="4" name="Text 2"/>
          <p:cNvSpPr/>
          <p:nvPr/>
        </p:nvSpPr>
        <p:spPr>
          <a:xfrm>
            <a:off x="7360920" y="475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agent across a whole class, then reflect trends back to the lecturer.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score distribution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82880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746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questions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15000" y="19110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questions the class failed most.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0" y="2496312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26426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mistakes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715000" y="2807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same error across students.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0" y="3392424"/>
            <a:ext cx="502920" cy="502920"/>
          </a:xfrm>
          <a:prstGeom prst="ellipse">
            <a:avLst/>
          </a:prstGeom>
          <a:solidFill>
            <a:srgbClr val="FDF3E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353872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0" y="3346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mastery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71500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gaps by topic, not just totals.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new scope: batch every student, aggregate per question and per topic, and hand the lecturer a class-level picture.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Instant, consistent, fair feedback.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58368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CheckMate frees TAs from the grading stack — and helps students learn from mistakes while they still matter.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CheckMate — Autonomous Calculus Grader</dc:title>
  <dc:subject>PptxGenJS Presentation</dc:subject>
  <dc:creator>Team</dc:creator>
  <cp:lastModifiedBy>Team</cp:lastModifiedBy>
  <cp:revision>1</cp:revision>
  <dcterms:created xsi:type="dcterms:W3CDTF">2026-07-07T06:30:46Z</dcterms:created>
  <dcterms:modified xsi:type="dcterms:W3CDTF">2026-07-07T06:30:46Z</dcterms:modified>
</cp:coreProperties>
</file>