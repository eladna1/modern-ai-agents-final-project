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Students</c:v>
                </c:pt>
              </c:strCache>
            </c:strRef>
          </c:tx>
          <c:spPr>
            <a:solidFill>
              <a:srgbClr val="534AB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F243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0–50</c:v>
                  </c:pt>
                  <c:pt idx="1">
                    <c:v>51–70</c:v>
                  </c:pt>
                  <c:pt idx="2">
                    <c:v>71–85</c:v>
                  </c:pt>
                  <c:pt idx="3">
                    <c:v>86–100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9</c:v>
                </c:pt>
                <c:pt idx="2">
                  <c:v>15</c:v>
                </c:pt>
                <c:pt idx="3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F243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08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8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08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name and one sentence: this is an agent that grades handwritten Calculus exams on its own. Keep it to 15 seconds — the why comes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pains: time, delay, fairness. Land the fairness one hardest — inconsistency is what students actually resent.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'why'. Say it slowly. The key turn: grading is reasoning, so it deserves an agent, not a workflow. That framing sets up the whole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line, one picture: scan in, grade out. Stress that it evaluates the student's own approach, so alternative valid methods still get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Concrete proof it works. The Verifier catches the missing x term with symbolic math, and the agent still awards partial credit for correct method. Then say: this runs for every question and totals the exam. This is the moment to win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loop once: the scanned exam hits the Supervisor; it calls Transcriber (reads all pages, splits into questions), then loops per question through Retriever, Verifier, Grader, and optionally Reflector, then returns. Key line: the Supervisor decides the order — that is the autonomy. Verifier is deterministic code, not an LLM. All LLM calls use GPT-4o-mini.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detailed architecture. Name the course patterns you combined: Supervisor + ReAct as the orchestrator, RAG for retrieval, a deterministic SymPy tool, a few-shot Grader, and conditional Reflection. Stress the bottom line: the Supervisor is not a third model — it is the same GPT-4o-mini running a tool-calling loop, and each tool call is logged to steps[]. That keeps it autonomous and within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the course grades hardest: agent vs workflow. Emphasize dynamic control flow and self-correction via reflection. Say the word 'autonomous'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trust/efficiency points. The budget line answers the project's efficiency requirement directly. The 'knows when to defer' point pre-empts the obvious 'but can it read handwriting?' question.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this clearly as future work (Roadmap badge). The same per-exam agent scales to a whole batch; then an aggregation layer reflects trends: score distribution, most-missed questions, recurring misconceptions, topic mastery. The chart numbers are illustrative. This turns a grader into an analytics tool for the lecturer.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Bookend to the why. End on the student benefit, then invite questions. Total target: under 10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0-1.png"/><Relationship Id="rId3" Type="http://schemas.openxmlformats.org/officeDocument/2006/relationships/image" Target="../media/image-10-2.png"/><Relationship Id="rId4" Type="http://schemas.openxmlformats.org/officeDocument/2006/relationships/image" Target="../media/image-10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37960" y="914400"/>
            <a:ext cx="3108960" cy="3108960"/>
          </a:xfrm>
          <a:prstGeom prst="ellipse">
            <a:avLst/>
          </a:prstGeom>
          <a:solidFill>
            <a:srgbClr val="2C3576"/>
          </a:solidFill>
          <a:ln/>
        </p:spPr>
      </p:sp>
      <p:sp>
        <p:nvSpPr>
          <p:cNvPr id="3" name="Shape 1"/>
          <p:cNvSpPr/>
          <p:nvPr/>
        </p:nvSpPr>
        <p:spPr>
          <a:xfrm>
            <a:off x="7086600" y="1463040"/>
            <a:ext cx="2011680" cy="2011680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2103120"/>
            <a:ext cx="731520" cy="731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160020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CheckMate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658368" y="251460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autonomous agent that grades Calculus 1 exams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658368" y="32004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Day  ·  Team name  ·  AI Agents course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Grading Calculus by hand doesn't scale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exam round, the same bottleneck.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56032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4E6F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874520"/>
            <a:ext cx="658368" cy="658368"/>
          </a:xfrm>
          <a:prstGeom prst="ellipse">
            <a:avLst/>
          </a:prstGeom>
          <a:solidFill>
            <a:srgbClr val="D85A3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6791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of manual work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22960" y="3081528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 grade hundreds of scripts, question by question, every single round.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291840" y="1600200"/>
            <a:ext cx="256032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4E6F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3566160" y="1874520"/>
            <a:ext cx="658368" cy="658368"/>
          </a:xfrm>
          <a:prstGeom prst="ellipse">
            <a:avLst/>
          </a:prstGeom>
          <a:solidFill>
            <a:srgbClr val="BA7517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52" y="2039112"/>
            <a:ext cx="329184" cy="32918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66160" y="26791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Slow feedback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3566160" y="3081528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wait days to find out where they went wrong — after they've moved on.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035040" y="1600200"/>
            <a:ext cx="256032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4E6F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309360" y="1874520"/>
            <a:ext cx="658368" cy="658368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039112"/>
            <a:ext cx="329184" cy="3291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309360" y="26791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Inconsistent credit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6309360" y="3081528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credit drifts between graders and across a long stack. Same mistake, different score.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051560"/>
            <a:ext cx="640080" cy="6400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1828800"/>
            <a:ext cx="8138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3300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believe feedback should be </a:t>
            </a:r>
            <a:pPr algn="l" indent="0" marL="0">
              <a:lnSpc>
                <a:spcPct val="108000"/>
              </a:lnSpc>
              <a:buNone/>
            </a:pPr>
            <a:r>
              <a:rPr lang="en-US" sz="3300" b="1" dirty="0">
                <a:solidFill>
                  <a:srgbClr val="534A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instant, consistent, and fair</a:t>
            </a:r>
            <a:pPr algn="l" indent="0" marL="0">
              <a:lnSpc>
                <a:spcPct val="108000"/>
              </a:lnSpc>
              <a:buNone/>
            </a:pPr>
            <a:r>
              <a:rPr lang="en-US" sz="3300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for every student, on every question.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566928" y="35204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 is a reasoning task, not a checklist. So instead of a rigid script, we give it to an agent that reasons through a solution the way a good TA does.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CheckMate does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it a scanned exam. It returns a score, partial credit, and written feedback for every question.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2468880" cy="1554480"/>
          </a:xfrm>
          <a:prstGeom prst="roundRect">
            <a:avLst>
              <a:gd name="adj" fmla="val 529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24231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297180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scanned exam (all pages)</a:t>
            </a:r>
            <a:endParaRPr lang="en-US" sz="14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2770632"/>
            <a:ext cx="365760" cy="310896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3657600" y="2148840"/>
            <a:ext cx="2468880" cy="1554480"/>
          </a:xfrm>
          <a:prstGeom prst="roundRect">
            <a:avLst>
              <a:gd name="adj" fmla="val 5294"/>
            </a:avLst>
          </a:prstGeom>
          <a:solidFill>
            <a:srgbClr val="534AB7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423160"/>
            <a:ext cx="457200" cy="4572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3749040" y="3017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CheckMate reasons + verifies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2770632"/>
            <a:ext cx="365760" cy="310896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6766560" y="2148840"/>
            <a:ext cx="1828800" cy="1554480"/>
          </a:xfrm>
          <a:prstGeom prst="roundRect">
            <a:avLst>
              <a:gd name="adj" fmla="val 5294"/>
            </a:avLst>
          </a:prstGeom>
          <a:solidFill>
            <a:srgbClr val="1D8F7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0" y="2423160"/>
            <a:ext cx="457200" cy="457200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6812280" y="30175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+ feedback</a:t>
            </a:r>
            <a:endParaRPr lang="en-US" sz="1400" dirty="0"/>
          </a:p>
        </p:txBody>
      </p:sp>
      <p:sp>
        <p:nvSpPr>
          <p:cNvPr id="15" name="Text 8"/>
          <p:cNvSpPr/>
          <p:nvPr/>
        </p:nvSpPr>
        <p:spPr>
          <a:xfrm>
            <a:off x="548640" y="40690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reads every page, splits the exam into questions, and grades each on the student's actual method.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question from the exam, graded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2588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F3F4FB"/>
          </a:solidFill>
          <a:ln w="12700">
            <a:solidFill>
              <a:srgbClr val="E4E6F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46304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 of 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777240" y="178308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  d/dx [ x² · ln x ]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246888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85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wrote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7889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 2x · ln x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(stops after the first product-rule term)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3931920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E4E6F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92040" y="1463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D8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CheckMate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223760" y="137160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534AB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algn="r" indent="0" marL="0">
              <a:buNone/>
            </a:pPr>
            <a:r>
              <a:rPr lang="en-US" sz="2200" dirty="0">
                <a:solidFill>
                  <a:srgbClr val="6470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/ 5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892040" y="2057400"/>
            <a:ext cx="3520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rule applied to the first term — correct.</a:t>
            </a:r>
            <a:endParaRPr lang="en-US" sz="13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the second term: x² · (1/x) = x.</a:t>
            </a:r>
            <a:endParaRPr lang="en-US" sz="1300" dirty="0"/>
          </a:p>
          <a:p>
            <a:pPr marL="342900" indent="-342900">
              <a:lnSpc>
                <a:spcPct val="102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sound, one term omitted → partial credit.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92040" y="37947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Symbolically verified:  </a:t>
            </a:r>
            <a:pPr indent="0" marL="0">
              <a:buNone/>
            </a:pPr>
            <a:r>
              <a:rPr lang="en-US" sz="1250" b="1" dirty="0">
                <a:solidFill>
                  <a:srgbClr val="1D8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 2x·ln x + x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4864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…repeated for every question, then totaled into the final exam grade.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CheckMate works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EDEEF6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234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Scanned exam  ·  /api/execute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92240" y="123444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EDEEF6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92240" y="1234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  ·  steps[]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8046720" cy="658368"/>
          </a:xfrm>
          <a:prstGeom prst="roundRect">
            <a:avLst>
              <a:gd name="adj" fmla="val 11111"/>
            </a:avLst>
          </a:prstGeom>
          <a:solidFill>
            <a:srgbClr val="534AB7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48640" y="1965960"/>
            <a:ext cx="8046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agent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loop  ·  grades question by question  ·  stops when confident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600200" y="1691640"/>
            <a:ext cx="0" cy="274320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543800" y="1691640"/>
            <a:ext cx="0" cy="274320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headEnd type="triangle"/>
          </a:ln>
        </p:spPr>
      </p:sp>
      <p:sp>
        <p:nvSpPr>
          <p:cNvPr id="11" name="Shape 9"/>
          <p:cNvSpPr/>
          <p:nvPr/>
        </p:nvSpPr>
        <p:spPr>
          <a:xfrm>
            <a:off x="548640" y="3017520"/>
            <a:ext cx="1463040" cy="713232"/>
          </a:xfrm>
          <a:prstGeom prst="roundRect">
            <a:avLst>
              <a:gd name="adj" fmla="val 10256"/>
            </a:avLst>
          </a:prstGeom>
          <a:solidFill>
            <a:srgbClr val="1D8F7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3017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Transcriber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+ splits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194560" y="3017520"/>
            <a:ext cx="1463040" cy="713232"/>
          </a:xfrm>
          <a:prstGeom prst="roundRect">
            <a:avLst>
              <a:gd name="adj" fmla="val 10256"/>
            </a:avLst>
          </a:prstGeom>
          <a:solidFill>
            <a:srgbClr val="5F5E5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2194560" y="3017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Retriever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840480" y="3017520"/>
            <a:ext cx="1463040" cy="713232"/>
          </a:xfrm>
          <a:prstGeom prst="roundRect">
            <a:avLst>
              <a:gd name="adj" fmla="val 10256"/>
            </a:avLst>
          </a:prstGeom>
          <a:solidFill>
            <a:srgbClr val="5F5E5A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840480" y="3017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Verifier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SymPy · no LLM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0" y="3017520"/>
            <a:ext cx="1463040" cy="713232"/>
          </a:xfrm>
          <a:prstGeom prst="roundRect">
            <a:avLst>
              <a:gd name="adj" fmla="val 10256"/>
            </a:avLst>
          </a:prstGeom>
          <a:solidFill>
            <a:srgbClr val="1D8F7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0" y="3017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Grader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few-shot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132320" y="3017520"/>
            <a:ext cx="1463040" cy="713232"/>
          </a:xfrm>
          <a:prstGeom prst="roundRect">
            <a:avLst>
              <a:gd name="adj" fmla="val 10256"/>
            </a:avLst>
          </a:prstGeom>
          <a:solidFill>
            <a:srgbClr val="1D8F7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132320" y="3017520"/>
            <a:ext cx="14630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Reflector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1280160" y="2624328"/>
            <a:ext cx="0" cy="393192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headEnd type="triangle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926080" y="2624328"/>
            <a:ext cx="0" cy="393192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headEnd type="triangle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4572000" y="2624328"/>
            <a:ext cx="0" cy="393192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headEnd type="triangle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6217920" y="2624328"/>
            <a:ext cx="0" cy="393192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headEnd type="triangl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7863840" y="2624328"/>
            <a:ext cx="0" cy="393192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headEnd type="triangl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1828800" y="3977640"/>
            <a:ext cx="2377440" cy="566928"/>
          </a:xfrm>
          <a:prstGeom prst="roundRect">
            <a:avLst>
              <a:gd name="adj" fmla="val 12903"/>
            </a:avLst>
          </a:prstGeom>
          <a:solidFill>
            <a:srgbClr val="6B6A63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1828800" y="3977640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</a:t>
            </a:r>
            <a:endParaRPr lang="en-US" sz="13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 · rubrics · examples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926080" y="3730752"/>
            <a:ext cx="0" cy="246888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headEnd type="triangl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4709160" y="4160520"/>
            <a:ext cx="146304" cy="146304"/>
          </a:xfrm>
          <a:prstGeom prst="ellipse">
            <a:avLst/>
          </a:prstGeom>
          <a:solidFill>
            <a:srgbClr val="534AB7"/>
          </a:solidFill>
          <a:ln/>
        </p:spPr>
      </p:sp>
      <p:sp>
        <p:nvSpPr>
          <p:cNvPr id="30" name="Text 28"/>
          <p:cNvSpPr/>
          <p:nvPr/>
        </p:nvSpPr>
        <p:spPr>
          <a:xfrm>
            <a:off x="4910328" y="40873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943600" y="4160520"/>
            <a:ext cx="146304" cy="146304"/>
          </a:xfrm>
          <a:prstGeom prst="ellipse">
            <a:avLst/>
          </a:prstGeom>
          <a:solidFill>
            <a:srgbClr val="1D8F73"/>
          </a:solidFill>
          <a:ln/>
        </p:spPr>
      </p:sp>
      <p:sp>
        <p:nvSpPr>
          <p:cNvPr id="32" name="Text 30"/>
          <p:cNvSpPr/>
          <p:nvPr/>
        </p:nvSpPr>
        <p:spPr>
          <a:xfrm>
            <a:off x="6144768" y="40873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call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178040" y="4160520"/>
            <a:ext cx="146304" cy="146304"/>
          </a:xfrm>
          <a:prstGeom prst="ellipse">
            <a:avLst/>
          </a:prstGeom>
          <a:solidFill>
            <a:srgbClr val="5F5E5A"/>
          </a:solidFill>
          <a:ln/>
        </p:spPr>
      </p:sp>
      <p:sp>
        <p:nvSpPr>
          <p:cNvPr id="34" name="Text 32"/>
          <p:cNvSpPr/>
          <p:nvPr/>
        </p:nvSpPr>
        <p:spPr>
          <a:xfrm>
            <a:off x="7379208" y="40873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/ tool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48640" y="45902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LLM call runs on GPT-4o-mini.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agents, combined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87552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roles from the course patterns, orchestrated in one loop.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399032"/>
            <a:ext cx="438912" cy="438912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08760"/>
            <a:ext cx="219456" cy="2194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80160" y="1371600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Supervisor · ReAct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3840480" y="1371600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GPT-4o-mini picks the next tool and closes each question.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1938528"/>
            <a:ext cx="438912" cy="438912"/>
          </a:xfrm>
          <a:prstGeom prst="ellipse">
            <a:avLst/>
          </a:prstGeom>
          <a:solidFill>
            <a:srgbClr val="5F5E5A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048256"/>
            <a:ext cx="219456" cy="2194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80160" y="1911096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Retriever · RAG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840480" y="1911096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Pulls the official solution, rubric and graded examples.</a:t>
            </a:r>
            <a:endParaRPr lang="en-US" sz="1250" dirty="0"/>
          </a:p>
        </p:txBody>
      </p:sp>
      <p:sp>
        <p:nvSpPr>
          <p:cNvPr id="12" name="Shape 8"/>
          <p:cNvSpPr/>
          <p:nvPr/>
        </p:nvSpPr>
        <p:spPr>
          <a:xfrm>
            <a:off x="640080" y="2478024"/>
            <a:ext cx="438912" cy="438912"/>
          </a:xfrm>
          <a:prstGeom prst="ellipse">
            <a:avLst/>
          </a:prstGeom>
          <a:solidFill>
            <a:srgbClr val="5F5E5A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587752"/>
            <a:ext cx="219456" cy="219456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280160" y="245059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Verifier · SymPy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3840480" y="2450592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the math deterministically — no LLM, no guessing.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" y="3017520"/>
            <a:ext cx="438912" cy="438912"/>
          </a:xfrm>
          <a:prstGeom prst="ellipse">
            <a:avLst/>
          </a:prstGeom>
          <a:solidFill>
            <a:srgbClr val="1D8F73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" y="3127248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280160" y="2990088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Grader · Few-shot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3840480" y="2990088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the student's own method, guided by graded examples.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40080" y="3557016"/>
            <a:ext cx="438912" cy="438912"/>
          </a:xfrm>
          <a:prstGeom prst="ellipse">
            <a:avLst/>
          </a:prstGeom>
          <a:solidFill>
            <a:srgbClr val="1D8F73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" y="3666744"/>
            <a:ext cx="219456" cy="21945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3529584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Reflector · Reflection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3840480" y="3529584"/>
            <a:ext cx="47548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Critiques borderline grades; Supervisor re-grades if needed.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548640" y="416052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3F4FB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315968"/>
            <a:ext cx="256032" cy="25603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188720" y="4160520"/>
            <a:ext cx="7223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many roles. 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Supervisor is a tool-calling loop, not a separate LLM — and every call it makes becomes a step in the </a:t>
            </a:r>
            <a:pPr indent="0" marL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steps[]</a:t>
            </a:r>
            <a:pPr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trace.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4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decides — it doesn't follow a script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534AB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7373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011680" y="2125980"/>
            <a:ext cx="182880" cy="0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2194560" y="17373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534AB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194560" y="17373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0" y="2125980"/>
            <a:ext cx="182880" cy="0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840480" y="17373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534AB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840480" y="17373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03520" y="2125980"/>
            <a:ext cx="182880" cy="0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486400" y="17373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534AB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0" y="17373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949440" y="2125980"/>
            <a:ext cx="182880" cy="0"/>
          </a:xfrm>
          <a:prstGeom prst="line">
            <a:avLst/>
          </a:prstGeom>
          <a:noFill/>
          <a:ln w="19050">
            <a:solidFill>
              <a:srgbClr val="8A93A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132320" y="1737360"/>
            <a:ext cx="14630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5875">
            <a:solidFill>
              <a:srgbClr val="534AB7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132320" y="1737360"/>
            <a:ext cx="1463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34A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280160" y="2880360"/>
            <a:ext cx="6583680" cy="0"/>
          </a:xfrm>
          <a:prstGeom prst="line">
            <a:avLst/>
          </a:prstGeom>
          <a:noFill/>
          <a:ln w="22225">
            <a:solidFill>
              <a:srgbClr val="1D8F73"/>
            </a:solidFill>
            <a:prstDash val="dash"/>
            <a:headEnd type="triangle"/>
          </a:ln>
        </p:spPr>
      </p:sp>
      <p:sp>
        <p:nvSpPr>
          <p:cNvPr id="18" name="Shape 16"/>
          <p:cNvSpPr/>
          <p:nvPr/>
        </p:nvSpPr>
        <p:spPr>
          <a:xfrm>
            <a:off x="7863840" y="2514600"/>
            <a:ext cx="0" cy="365760"/>
          </a:xfrm>
          <a:prstGeom prst="line">
            <a:avLst/>
          </a:prstGeom>
          <a:noFill/>
          <a:ln w="22225">
            <a:solidFill>
              <a:srgbClr val="1D8F73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1280160" y="2514600"/>
            <a:ext cx="0" cy="365760"/>
          </a:xfrm>
          <a:prstGeom prst="line">
            <a:avLst/>
          </a:prstGeom>
          <a:noFill/>
          <a:ln w="22225">
            <a:solidFill>
              <a:srgbClr val="1D8F73"/>
            </a:solidFill>
            <a:prstDash val="dash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651760" y="290779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D8F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question  ·  loops until confident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474720"/>
            <a:ext cx="804672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E4E6F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767328"/>
            <a:ext cx="457200" cy="45720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1463040" y="356616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350" dirty="0">
                <a:solidFill>
                  <a:srgbClr val="1F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each question, the order isn't fixed. The Supervisor may re-read a blurry scan, re-verify a step, skip reflection, or stop early — chosen from what it observes. That is what makes it an agent, not a workflow.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Accurate, honest, and cheap to run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256032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4E6F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822960" y="1874520"/>
            <a:ext cx="658368" cy="658368"/>
          </a:xfrm>
          <a:prstGeom prst="ellipse">
            <a:avLst/>
          </a:prstGeom>
          <a:solidFill>
            <a:srgbClr val="1D8F73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2039112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6791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Math checked by code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081528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Derivatives, integrals and limits are verified with SymPy — deterministically, not guessed by an LLM.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3291840" y="1600200"/>
            <a:ext cx="256032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4E6F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3566160" y="1874520"/>
            <a:ext cx="658368" cy="658368"/>
          </a:xfrm>
          <a:prstGeom prst="ellipse">
            <a:avLst/>
          </a:prstGeom>
          <a:solidFill>
            <a:srgbClr val="534AB7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0752" y="203911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66160" y="26791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Knows when to defer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3566160" y="3081528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Genuinely ambiguous handwriting is flagged for human review, never silently guessed.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035040" y="1600200"/>
            <a:ext cx="2560320" cy="2514600"/>
          </a:xfrm>
          <a:prstGeom prst="roundRect">
            <a:avLst>
              <a:gd name="adj" fmla="val 3273"/>
            </a:avLst>
          </a:prstGeom>
          <a:solidFill>
            <a:srgbClr val="FFFFFF"/>
          </a:solidFill>
          <a:ln w="12700">
            <a:solidFill>
              <a:srgbClr val="E4E6F2"/>
            </a:solidFill>
            <a:prstDash val="solid"/>
          </a:ln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09360" y="1874520"/>
            <a:ext cx="658368" cy="658368"/>
          </a:xfrm>
          <a:prstGeom prst="ellipse">
            <a:avLst/>
          </a:prstGeom>
          <a:solidFill>
            <a:srgbClr val="BA7517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039112"/>
            <a:ext cx="329184" cy="32918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09360" y="267919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Runs on a $13 budget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6309360" y="3081528"/>
            <a:ext cx="2057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 uses GPT-4o-mini. Deterministic checks and tight per-question context keep a full exam within budget.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Future: grade the batch, see the trends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360920" y="475488"/>
            <a:ext cx="1234440" cy="411480"/>
          </a:xfrm>
          <a:prstGeom prst="roundRect">
            <a:avLst>
              <a:gd name="adj" fmla="val 48889"/>
            </a:avLst>
          </a:prstGeom>
          <a:solidFill>
            <a:srgbClr val="BA7517"/>
          </a:solidFill>
          <a:ln/>
        </p:spPr>
      </p:sp>
      <p:sp>
        <p:nvSpPr>
          <p:cNvPr id="4" name="Text 2"/>
          <p:cNvSpPr/>
          <p:nvPr/>
        </p:nvSpPr>
        <p:spPr>
          <a:xfrm>
            <a:off x="7360920" y="475488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024128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same agent across a whole class, then reflect trends back to the lecturer.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46304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score distribution</a:t>
            </a:r>
            <a:endParaRPr lang="en-US" sz="15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02920" y="1828800"/>
          <a:ext cx="411480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48640" y="42245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AA0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5029200" y="1600200"/>
            <a:ext cx="502920" cy="502920"/>
          </a:xfrm>
          <a:prstGeom prst="ellipse">
            <a:avLst/>
          </a:prstGeom>
          <a:solidFill>
            <a:srgbClr val="FDF3E1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5504" y="1746504"/>
            <a:ext cx="219456" cy="2194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71500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questions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5715000" y="1911096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which questions the class failed most.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029200" y="2496312"/>
            <a:ext cx="502920" cy="502920"/>
          </a:xfrm>
          <a:prstGeom prst="ellipse">
            <a:avLst/>
          </a:prstGeom>
          <a:solidFill>
            <a:srgbClr val="FDF3E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504" y="2642616"/>
            <a:ext cx="219456" cy="2194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5715000" y="2450592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Recurring mistakes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5715000" y="2807208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the same error across students.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0" y="3392424"/>
            <a:ext cx="502920" cy="502920"/>
          </a:xfrm>
          <a:prstGeom prst="ellipse">
            <a:avLst/>
          </a:prstGeom>
          <a:solidFill>
            <a:srgbClr val="FDF3E1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504" y="3538728"/>
            <a:ext cx="219456" cy="2194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5715000" y="334670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24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Topic mastery</a:t>
            </a:r>
            <a:endParaRPr lang="en-US" sz="1500" dirty="0"/>
          </a:p>
        </p:txBody>
      </p:sp>
      <p:sp>
        <p:nvSpPr>
          <p:cNvPr id="20" name="Text 14"/>
          <p:cNvSpPr/>
          <p:nvPr/>
        </p:nvSpPr>
        <p:spPr>
          <a:xfrm>
            <a:off x="5715000" y="37033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Strengths and gaps by topic, not just totals.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548640" y="45262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47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agent, new scope: batch every student, aggregate per question and per topic, and hand the lecturer a class-level picture.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234440"/>
            <a:ext cx="777240" cy="7772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21488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Instant, consistent, fair feedback.</a:t>
            </a:r>
            <a:endParaRPr lang="en-US" sz="3800" dirty="0"/>
          </a:p>
        </p:txBody>
      </p:sp>
      <p:sp>
        <p:nvSpPr>
          <p:cNvPr id="4" name="Text 1"/>
          <p:cNvSpPr/>
          <p:nvPr/>
        </p:nvSpPr>
        <p:spPr>
          <a:xfrm>
            <a:off x="658368" y="3063240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CheckMate frees TAs from the grading stack — and helps students learn from mistakes while they still matter.</a:t>
            </a:r>
            <a:endParaRPr lang="en-US" sz="1700" dirty="0"/>
          </a:p>
        </p:txBody>
      </p:sp>
      <p:sp>
        <p:nvSpPr>
          <p:cNvPr id="5" name="Text 2"/>
          <p:cNvSpPr/>
          <p:nvPr/>
        </p:nvSpPr>
        <p:spPr>
          <a:xfrm>
            <a:off x="658368" y="40690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CheckMate — Autonomous Calculus Grader</dc:title>
  <dc:subject>PptxGenJS Presentation</dc:subject>
  <dc:creator>Team</dc:creator>
  <cp:lastModifiedBy>Team</cp:lastModifiedBy>
  <cp:revision>1</cp:revision>
  <dcterms:created xsi:type="dcterms:W3CDTF">2026-07-03T17:12:58Z</dcterms:created>
  <dcterms:modified xsi:type="dcterms:W3CDTF">2026-07-03T17:12:58Z</dcterms:modified>
</cp:coreProperties>
</file>